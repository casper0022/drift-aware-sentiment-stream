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6"/>
    <p:sldId id="270" r:id="rId5"/>
    <p:sldId id="271" r:id="rId4"/>
    <p:sldId id="272" r:id="rId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13D373-0A6C-4B8A-8B28-E816E2BFB9F7}">
  <a:tblStyle styleId="{DC13D373-0A6C-4B8A-8B28-E816E2BFB9F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7651DCF-F7A7-4FF7-9555-31CC9B1C9F7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7.xml"/><Relationship Id="rId4" Type="http://schemas.openxmlformats.org/officeDocument/2006/relationships/slide" Target="slides/slide16.xml"/><Relationship Id="rId5" Type="http://schemas.openxmlformats.org/officeDocument/2006/relationships/slide" Target="slides/slide15.xml"/><Relationship Id="rId6" Type="http://schemas.openxmlformats.org/officeDocument/2006/relationships/slide" Target="slides/slide1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[12 s, Bichu] Hello, we are Team 18: Bichu Devnarayan, Albin John, Sarthak and Aswin Paramesh. Our project is concept drift detection in social media streams.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[22 s, Bichu] Tweets arrive as a fast, never-ending stream, and topics, words and opinions keep changing: concept drift. Some drift only changes the words, like a switch from work tweets to music tweets. Real drift changes the meaning: the same words now signal a different sentiment, and a model trained once quietly loses accuracy.</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[18 s, Bichu] We built on three papers. Iosifidis and colleagues adapt a naive Bayes classifier when a word-based detector signals change; that is our baseline. Costa and colleagues show how to simulate drift with real tweets, and Bechini and colleagues show that real events cause it. The gap: the baseline only watches the words.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[22 s, Albin] Here is the pipeline. A Python producer replays Sentiment140's 1.6 million tweets, in time order, into Kafka. Spark Structured Streaming tokenizes each micro-batch, and the driver runs the baseline and our enhanced model side by side. Metrics and drift events go to InfluxDB and Grafana, all in Docker.</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[20 s, Albin] The baseline is an ageing naive Bayes: old word counts fade with time. Every few thousand tweets a detector compares the words of recent tweets with the previous window, and when they change, the model forgets faster or is rebuilt. We had to fix two details the paper leaves open.</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[22 s, Albin] Our enhancement watches the model's own mistakes. Every tweet is predicted before it is learned, so each one gives a free right-or-wrong signal. ADWIN raises an alarm when the error rate rises, and the model is rebuilt on the tweets after the change. The OR mode, which combines both detectors, is our main model.</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[15 s, Sarthak] We test on the real stream, the paper's more volatile variant, and six controlled scenarios with known drift points, each with five random seeds. The key one is the label flip: at tweet 40,000 every label inverts while the words stay the same.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[10 s, Sarthak] These are the tools and their versions. The Python packages are pinned in the requirements file, and the Spark image is built from our Dockerfile.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s, Albin] Now let us show the pipeline running end to end.</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[15 s, Sarthak] First, the baseline reproduces the paper: the model that never forgets is worst, fixed forgetting helps, and informed adaptation is best on both streams. One difference: in our runs, forgetting only on detected change beats constant forgetting.</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[18 s, Sarthak] On the label flip, the word detector waits a full window, about four thousand tweets, while accuracy sits near twenty-five percent. ADWIN fires after thirty-nine tweets, recovery is two and a half times faster, and accuracy rises from seventy-one to almost seventy-four percent.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[20 s, Aswin] ADWIN also catches a flip limited to one topic, which the baseline misses in two of five runs. On real data, accuracy improves on both streams, and Sentiment140's change point is caught after seven hundred tweets instead of nineteen thousand. The price is more false alarms, mostly from the word detector.</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[12 s, Aswin] The cost is small. In our benchmark the pipeline kept up with two thousand tweets per second, and ADWIN adds only about ten milliseconds per thousand tweets.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[12 s, Aswin] Limitations: the labels come from emoticons, the controlled drifts are synthetic, and the model runs on the Spark driver. Next, we would try a context-aware classifier and recent, event-driven data.</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[12 s, Aswin] To conclude: watch the errors, not only the words. Combining both detectors catches meaning drift about a hundred times sooner and improves accuracy, at almost no cost, in a real streaming pipeline.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s, Aswin] These are our references.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s, Aswin] Thank you.</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685800" y="868680"/>
            <a:ext cx="10817352" cy="1828800"/>
          </a:xfrm>
        </p:spPr>
        <p:txBody>
          <a:bodyPr/>
          <a:lstStyle/>
          <a:p>
            <a:pPr algn="ctr"/>
            <a:r>
              <a:rPr sz="4000"/>
              <a:t>Concept Drift Detection in Social Media Streams</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sp>
        <p:nvSpPr>
          <p:cNvPr id="118" name="TextBox 117"/>
          <p:cNvSpPr txBox="1"/>
          <p:nvPr/>
        </p:nvSpPr>
        <p:spPr>
          <a:xfrm>
            <a:off x="1527048" y="2743200"/>
            <a:ext cx="9144000" cy="822960"/>
          </a:xfrm>
          <a:prstGeom prst="rect">
            <a:avLst/>
          </a:prstGeom>
          <a:noFill/>
        </p:spPr>
        <p:txBody>
          <a:bodyPr wrap="square">
            <a:spAutoFit/>
          </a:bodyPr>
          <a:lstStyle/>
          <a:p>
            <a:pPr algn="ctr"/>
            <a:r>
              <a:rPr sz="2000" b="0" i="0">
                <a:solidFill>
                  <a:srgbClr val="595959"/>
                </a:solidFill>
                <a:latin typeface="Calibri"/>
              </a:rPr>
              <a:t>Informed ageing naive Bayes + an error-based ADWIN detector,</a:t>
            </a:r>
          </a:p>
          <a:p>
            <a:pPr algn="ctr"/>
            <a:r>
              <a:rPr sz="2000" b="0" i="0">
                <a:solidFill>
                  <a:srgbClr val="595959"/>
                </a:solidFill>
                <a:latin typeface="Calibri"/>
              </a:rPr>
              <a:t>live on Kafka, Spark, InfluxDB and Grafana</a:t>
            </a:r>
          </a:p>
        </p:txBody>
      </p:sp>
      <p:sp>
        <p:nvSpPr>
          <p:cNvPr id="119" name="TextBox 118"/>
          <p:cNvSpPr txBox="1"/>
          <p:nvPr/>
        </p:nvSpPr>
        <p:spPr>
          <a:xfrm>
            <a:off x="1527048" y="3611880"/>
            <a:ext cx="9144000" cy="365760"/>
          </a:xfrm>
          <a:prstGeom prst="rect">
            <a:avLst/>
          </a:prstGeom>
          <a:noFill/>
        </p:spPr>
        <p:txBody>
          <a:bodyPr wrap="square">
            <a:spAutoFit/>
          </a:bodyPr>
          <a:lstStyle/>
          <a:p>
            <a:pPr algn="ctr"/>
            <a:r>
              <a:rPr sz="1800" b="0" i="0">
                <a:solidFill>
                  <a:srgbClr val="595959"/>
                </a:solidFill>
                <a:latin typeface="Calibri"/>
              </a:rPr>
              <a:t>Streaming Data Analytics (IOE413)  ·  Semester 7  ·  Team 18</a:t>
            </a:r>
          </a:p>
        </p:txBody>
      </p:sp>
      <p:sp>
        <p:nvSpPr>
          <p:cNvPr id="120" name="TextBox 119"/>
          <p:cNvSpPr txBox="1"/>
          <p:nvPr/>
        </p:nvSpPr>
        <p:spPr>
          <a:xfrm>
            <a:off x="1527048" y="4114800"/>
            <a:ext cx="9144000" cy="1463040"/>
          </a:xfrm>
          <a:prstGeom prst="rect">
            <a:avLst/>
          </a:prstGeom>
          <a:noFill/>
        </p:spPr>
        <p:txBody>
          <a:bodyPr wrap="square">
            <a:spAutoFit/>
          </a:bodyPr>
          <a:lstStyle/>
          <a:p>
            <a:pPr algn="ctr"/>
            <a:r>
              <a:rPr sz="1800" b="0" i="0">
                <a:solidFill>
                  <a:srgbClr val="000000"/>
                </a:solidFill>
                <a:latin typeface="Calibri"/>
              </a:rPr>
              <a:t>BY</a:t>
            </a:r>
          </a:p>
          <a:p>
            <a:pPr algn="ctr"/>
            <a:r>
              <a:rPr sz="1800" b="0" i="1">
                <a:solidFill>
                  <a:srgbClr val="000000"/>
                </a:solidFill>
                <a:latin typeface="Calibri"/>
              </a:rPr>
              <a:t>2023BCS0102 – BICHU DEVNARAYAN</a:t>
            </a:r>
          </a:p>
          <a:p>
            <a:pPr algn="ctr"/>
            <a:r>
              <a:rPr sz="1800" b="0" i="1">
                <a:solidFill>
                  <a:srgbClr val="000000"/>
                </a:solidFill>
                <a:latin typeface="Calibri"/>
              </a:rPr>
              <a:t>2023BCD0005 – ALBIN JOHN</a:t>
            </a:r>
          </a:p>
          <a:p>
            <a:pPr algn="ctr"/>
            <a:r>
              <a:rPr sz="1800" b="0" i="1">
                <a:solidFill>
                  <a:srgbClr val="000000"/>
                </a:solidFill>
                <a:latin typeface="Calibri"/>
              </a:rPr>
              <a:t>2023BCS0068 – SARTHAK</a:t>
            </a:r>
          </a:p>
          <a:p>
            <a:pPr algn="ctr"/>
            <a:r>
              <a:rPr sz="1800" b="0" i="1">
                <a:solidFill>
                  <a:srgbClr val="000000"/>
                </a:solidFill>
                <a:latin typeface="Calibri"/>
              </a:rPr>
              <a:t>2023BCD0024 – ASWIN PARAMESH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Introduction and Problem Statement</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sp>
        <p:nvSpPr>
          <p:cNvPr id="118" name="TextBox 117"/>
          <p:cNvSpPr txBox="1"/>
          <p:nvPr/>
        </p:nvSpPr>
        <p:spPr>
          <a:xfrm>
            <a:off x="841248" y="1234440"/>
            <a:ext cx="5852160" cy="4389120"/>
          </a:xfrm>
          <a:prstGeom prst="rect">
            <a:avLst/>
          </a:prstGeom>
          <a:noFill/>
        </p:spPr>
        <p:txBody>
          <a:bodyPr wrap="square">
            <a:spAutoFit/>
          </a:bodyPr>
          <a:lstStyle/>
          <a:p>
            <a:pPr marL="342900" indent="-274320">
              <a:buChar char="•"/>
            </a:pPr>
            <a:r>
              <a:rPr sz="1900" b="0" i="0">
                <a:solidFill>
                  <a:srgbClr val="000000"/>
                </a:solidFill>
                <a:latin typeface="Calibri"/>
              </a:rPr>
              <a:t>Tweets arrive as a fast, never-ending stream; topics, words and opinions keep changing: concept drift</a:t>
            </a:r>
          </a:p>
          <a:p>
            <a:pPr marL="342900" indent="-274320">
              <a:spcBef>
                <a:spcPts val="1200"/>
              </a:spcBef>
              <a:buChar char="•"/>
            </a:pPr>
            <a:r>
              <a:rPr sz="1900" b="0" i="0">
                <a:solidFill>
                  <a:srgbClr val="000000"/>
                </a:solidFill>
                <a:latin typeface="Calibri"/>
              </a:rPr>
              <a:t>A sentiment model trained once quietly loses accuracy</a:t>
            </a:r>
          </a:p>
          <a:p>
            <a:pPr marL="342900" indent="-274320">
              <a:spcBef>
                <a:spcPts val="1200"/>
              </a:spcBef>
              <a:buChar char="•"/>
            </a:pPr>
            <a:r>
              <a:rPr sz="1900" b="1" i="0">
                <a:solidFill>
                  <a:srgbClr val="000000"/>
                </a:solidFill>
                <a:latin typeface="Calibri"/>
              </a:rPr>
              <a:t>Virtual drift: </a:t>
            </a:r>
            <a:r>
              <a:rPr sz="1900" b="0" i="0">
                <a:solidFill>
                  <a:srgbClr val="000000"/>
                </a:solidFill>
                <a:latin typeface="Calibri"/>
              </a:rPr>
              <a:t>new words or topics, P(X) changes</a:t>
            </a:r>
          </a:p>
          <a:p>
            <a:pPr marL="342900" indent="-274320">
              <a:spcBef>
                <a:spcPts val="1200"/>
              </a:spcBef>
              <a:buChar char="•"/>
            </a:pPr>
            <a:r>
              <a:rPr sz="1900" b="1" i="0">
                <a:solidFill>
                  <a:srgbClr val="000000"/>
                </a:solidFill>
                <a:latin typeface="Calibri"/>
              </a:rPr>
              <a:t>Real drift: </a:t>
            </a:r>
            <a:r>
              <a:rPr sz="1900" b="0" i="0">
                <a:solidFill>
                  <a:srgbClr val="000000"/>
                </a:solidFill>
                <a:latin typeface="Calibri"/>
              </a:rPr>
              <a:t>same words, new meaning, P(y | X) changes</a:t>
            </a:r>
          </a:p>
          <a:p>
            <a:pPr marL="342900" indent="-274320">
              <a:spcBef>
                <a:spcPts val="1200"/>
              </a:spcBef>
              <a:buChar char="•"/>
            </a:pPr>
            <a:r>
              <a:rPr sz="1900" b="1" i="0">
                <a:solidFill>
                  <a:srgbClr val="000000"/>
                </a:solidFill>
                <a:latin typeface="Calibri"/>
              </a:rPr>
              <a:t>Problem: </a:t>
            </a:r>
            <a:r>
              <a:rPr sz="1900" b="0" i="0">
                <a:solidFill>
                  <a:srgbClr val="000000"/>
                </a:solidFill>
                <a:latin typeface="Calibri"/>
              </a:rPr>
              <a:t>the base paper's detector watches only the words, so it cannot see a change in meaning</a:t>
            </a:r>
          </a:p>
          <a:p>
            <a:pPr marL="342900" indent="-274320">
              <a:spcBef>
                <a:spcPts val="1200"/>
              </a:spcBef>
              <a:buChar char="•"/>
            </a:pPr>
            <a:r>
              <a:rPr sz="1900" b="1" i="0">
                <a:solidFill>
                  <a:srgbClr val="000000"/>
                </a:solidFill>
                <a:latin typeface="Calibri"/>
              </a:rPr>
              <a:t>Goal: </a:t>
            </a:r>
            <a:r>
              <a:rPr sz="1900" b="0" i="0">
                <a:solidFill>
                  <a:srgbClr val="000000"/>
                </a:solidFill>
                <a:latin typeface="Calibri"/>
              </a:rPr>
              <a:t>catch both kinds, early, in a live streaming pipeline</a:t>
            </a:r>
          </a:p>
        </p:txBody>
      </p:sp>
      <p:sp>
        <p:nvSpPr>
          <p:cNvPr id="119" name="Rectangle 118"/>
          <p:cNvSpPr/>
          <p:nvPr/>
        </p:nvSpPr>
        <p:spPr>
          <a:xfrm>
            <a:off x="7086600" y="1417320"/>
            <a:ext cx="4206240" cy="1600200"/>
          </a:xfrm>
          <a:prstGeom prst="rect">
            <a:avLst/>
          </a:prstGeom>
          <a:solidFill>
            <a:srgbClr val="F2F2F2"/>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i="0">
                <a:solidFill>
                  <a:srgbClr val="000000"/>
                </a:solidFill>
                <a:latin typeface="Calibri"/>
              </a:rPr>
              <a:t>Virtual drift</a:t>
            </a:r>
          </a:p>
          <a:p>
            <a:pPr algn="ctr"/>
            <a:r>
              <a:rPr sz="1500" b="0" i="0">
                <a:solidFill>
                  <a:srgbClr val="595959"/>
                </a:solidFill>
                <a:latin typeface="Calibri"/>
              </a:rPr>
              <a:t>work / school tweets  →  music / movie tweets</a:t>
            </a:r>
          </a:p>
          <a:p>
            <a:pPr algn="ctr"/>
            <a:r>
              <a:rPr sz="1500" b="0" i="0">
                <a:solidFill>
                  <a:srgbClr val="595959"/>
                </a:solidFill>
                <a:latin typeface="Calibri"/>
              </a:rPr>
              <a:t>the words change, the meaning does not</a:t>
            </a:r>
          </a:p>
        </p:txBody>
      </p:sp>
      <p:sp>
        <p:nvSpPr>
          <p:cNvPr id="120" name="Rounded Rectangle 119"/>
          <p:cNvSpPr/>
          <p:nvPr/>
        </p:nvSpPr>
        <p:spPr>
          <a:xfrm>
            <a:off x="7086600" y="3337560"/>
            <a:ext cx="4206240" cy="1600200"/>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i="0">
                <a:solidFill>
                  <a:srgbClr val="000000"/>
                </a:solidFill>
                <a:latin typeface="Calibri"/>
              </a:rPr>
              <a:t>Real drift</a:t>
            </a:r>
          </a:p>
          <a:p>
            <a:pPr algn="ctr"/>
            <a:r>
              <a:rPr sz="1500" b="0" i="0">
                <a:solidFill>
                  <a:srgbClr val="595959"/>
                </a:solidFill>
                <a:latin typeface="Calibri"/>
              </a:rPr>
              <a:t>"so sick" was negative, now means positive</a:t>
            </a:r>
          </a:p>
          <a:p>
            <a:pPr algn="ctr"/>
            <a:r>
              <a:rPr sz="1500" b="0" i="0">
                <a:solidFill>
                  <a:srgbClr val="595959"/>
                </a:solidFill>
                <a:latin typeface="Calibri"/>
              </a:rPr>
              <a:t>the words stay, the meaning changes</a:t>
            </a:r>
          </a:p>
        </p:txBody>
      </p:sp>
      <p:sp>
        <p:nvSpPr>
          <p:cNvPr id="121" name="TextBox 120"/>
          <p:cNvSpPr txBox="1"/>
          <p:nvPr/>
        </p:nvSpPr>
        <p:spPr>
          <a:xfrm>
            <a:off x="7086600" y="5074920"/>
            <a:ext cx="4206240" cy="365760"/>
          </a:xfrm>
          <a:prstGeom prst="rect">
            <a:avLst/>
          </a:prstGeom>
          <a:noFill/>
        </p:spPr>
        <p:txBody>
          <a:bodyPr wrap="square">
            <a:spAutoFit/>
          </a:bodyPr>
          <a:lstStyle/>
          <a:p>
            <a:pPr algn="l"/>
            <a:r>
              <a:rPr sz="1200" b="0" i="1">
                <a:solidFill>
                  <a:srgbClr val="595959"/>
                </a:solidFill>
                <a:latin typeface="Calibri"/>
              </a:rPr>
              <a:t>Only real drift necessarily hurts a classifier.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Literature Review</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sp>
        <p:nvSpPr>
          <p:cNvPr id="118" name="TextBox 117"/>
          <p:cNvSpPr txBox="1"/>
          <p:nvPr/>
        </p:nvSpPr>
        <p:spPr>
          <a:xfrm>
            <a:off x="841248" y="1188720"/>
            <a:ext cx="10515600" cy="4480560"/>
          </a:xfrm>
          <a:prstGeom prst="rect">
            <a:avLst/>
          </a:prstGeom>
          <a:noFill/>
        </p:spPr>
        <p:txBody>
          <a:bodyPr wrap="square">
            <a:spAutoFit/>
          </a:bodyPr>
          <a:lstStyle/>
          <a:p>
            <a:pPr marL="342900" indent="-274320">
              <a:buChar char="•"/>
            </a:pPr>
            <a:r>
              <a:rPr sz="1900" b="1" i="0">
                <a:solidFill>
                  <a:srgbClr val="000000"/>
                </a:solidFill>
                <a:latin typeface="Calibri"/>
              </a:rPr>
              <a:t>[1] Iosifidis, Oelschlager, Ntoutsi (2017): </a:t>
            </a:r>
            <a:r>
              <a:rPr sz="1900" b="0" i="0">
                <a:solidFill>
                  <a:srgbClr val="000000"/>
                </a:solidFill>
                <a:latin typeface="Calibri"/>
              </a:rPr>
              <a:t>informed ageing naive Bayes on Sentiment140; a vocabulary detector tunes how fast the model forgets</a:t>
            </a:r>
          </a:p>
          <a:p>
            <a:pPr marL="685800" indent="-274320">
              <a:spcBef>
                <a:spcPts val="500"/>
              </a:spcBef>
              <a:buChar char="–"/>
            </a:pPr>
            <a:r>
              <a:rPr sz="1700" b="0" i="0">
                <a:solidFill>
                  <a:srgbClr val="000000"/>
                </a:solidFill>
                <a:latin typeface="Calibri"/>
              </a:rPr>
              <a:t>Our baseline: we reproduce the model, the detector and all 5 forgetting strategies</a:t>
            </a:r>
          </a:p>
          <a:p>
            <a:pPr marL="342900" indent="-274320">
              <a:spcBef>
                <a:spcPts val="1000"/>
              </a:spcBef>
              <a:buChar char="•"/>
            </a:pPr>
            <a:r>
              <a:rPr sz="1900" b="1" i="0">
                <a:solidFill>
                  <a:srgbClr val="000000"/>
                </a:solidFill>
                <a:latin typeface="Calibri"/>
              </a:rPr>
              <a:t>[2] Costa, Silva, Antunes, Ribeiro (ICMLA 2014): </a:t>
            </a:r>
            <a:r>
              <a:rPr sz="1900" b="0" i="0">
                <a:solidFill>
                  <a:srgbClr val="000000"/>
                </a:solidFill>
                <a:latin typeface="Calibri"/>
              </a:rPr>
              <a:t>sudden, gradual and recurring drift simulated by re-timestamping real tweets</a:t>
            </a:r>
          </a:p>
          <a:p>
            <a:pPr marL="685800" indent="-274320">
              <a:spcBef>
                <a:spcPts val="500"/>
              </a:spcBef>
              <a:buChar char="–"/>
            </a:pPr>
            <a:r>
              <a:rPr sz="1700" b="0" i="0">
                <a:solidFill>
                  <a:srgbClr val="000000"/>
                </a:solidFill>
                <a:latin typeface="Calibri"/>
              </a:rPr>
              <a:t>Our method for controlled drift scenarios with known drift points</a:t>
            </a:r>
          </a:p>
          <a:p>
            <a:pPr marL="342900" indent="-274320">
              <a:spcBef>
                <a:spcPts val="1000"/>
              </a:spcBef>
              <a:buChar char="•"/>
            </a:pPr>
            <a:r>
              <a:rPr sz="1900" b="1" i="0">
                <a:solidFill>
                  <a:srgbClr val="000000"/>
                </a:solidFill>
                <a:latin typeface="Calibri"/>
              </a:rPr>
              <a:t>[3] Bechini et al. (IEEE Access 2021): </a:t>
            </a:r>
            <a:r>
              <a:rPr sz="1900" b="0" i="0">
                <a:solidFill>
                  <a:srgbClr val="000000"/>
                </a:solidFill>
                <a:latin typeface="Calibri"/>
              </a:rPr>
              <a:t>real-world events cause drift in a Twitter stance stream; adaptive models recover</a:t>
            </a:r>
          </a:p>
          <a:p>
            <a:pPr marL="685800" indent="-274320">
              <a:spcBef>
                <a:spcPts val="500"/>
              </a:spcBef>
              <a:buChar char="–"/>
            </a:pPr>
            <a:r>
              <a:rPr sz="1700" b="0" i="0">
                <a:solidFill>
                  <a:srgbClr val="000000"/>
                </a:solidFill>
                <a:latin typeface="Calibri"/>
              </a:rPr>
              <a:t>Our motivation: drift on social media is event-driven and real</a:t>
            </a:r>
          </a:p>
          <a:p>
            <a:pPr marL="342900" indent="-274320">
              <a:spcBef>
                <a:spcPts val="1000"/>
              </a:spcBef>
              <a:buChar char="•"/>
            </a:pPr>
            <a:r>
              <a:rPr sz="1900" b="1" i="0">
                <a:solidFill>
                  <a:srgbClr val="000000"/>
                </a:solidFill>
                <a:latin typeface="Calibri"/>
              </a:rPr>
              <a:t>Gap: </a:t>
            </a:r>
            <a:r>
              <a:rPr sz="1900" b="0" i="0">
                <a:solidFill>
                  <a:srgbClr val="000000"/>
                </a:solidFill>
                <a:latin typeface="Calibri"/>
              </a:rPr>
              <a:t>the baseline watches only the input words, reacts once per 24k-tweet window, and was never run on a live streaming stack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System Architecture</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sp>
        <p:nvSpPr>
          <p:cNvPr id="118" name="Rectangle 117"/>
          <p:cNvSpPr/>
          <p:nvPr/>
        </p:nvSpPr>
        <p:spPr>
          <a:xfrm>
            <a:off x="841248" y="1188720"/>
            <a:ext cx="1828800" cy="804672"/>
          </a:xfrm>
          <a:prstGeom prst="rect">
            <a:avLst/>
          </a:prstGeom>
          <a:solidFill>
            <a:srgbClr val="F2F2F2"/>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i="0">
                <a:solidFill>
                  <a:srgbClr val="000000"/>
                </a:solidFill>
                <a:latin typeface="Calibri"/>
              </a:rPr>
              <a:t>Ingest</a:t>
            </a:r>
          </a:p>
        </p:txBody>
      </p:sp>
      <p:sp>
        <p:nvSpPr>
          <p:cNvPr id="119" name="Rounded Rectangle 118"/>
          <p:cNvSpPr/>
          <p:nvPr/>
        </p:nvSpPr>
        <p:spPr>
          <a:xfrm>
            <a:off x="2944368" y="1188720"/>
            <a:ext cx="2621280" cy="804672"/>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i="0">
                <a:solidFill>
                  <a:srgbClr val="000000"/>
                </a:solidFill>
                <a:latin typeface="Calibri"/>
              </a:rPr>
              <a:t>Sentiment140 → parquet</a:t>
            </a:r>
          </a:p>
          <a:p>
            <a:pPr algn="ctr"/>
            <a:r>
              <a:rPr sz="1400" b="0" i="0">
                <a:solidFill>
                  <a:srgbClr val="595959"/>
                </a:solidFill>
                <a:latin typeface="Calibri"/>
              </a:rPr>
              <a:t>pandas, pyarrow</a:t>
            </a:r>
          </a:p>
        </p:txBody>
      </p:sp>
      <p:cxnSp>
        <p:nvCxnSpPr>
          <p:cNvPr id="120" name="Connector 119"/>
          <p:cNvCxnSpPr/>
          <p:nvPr/>
        </p:nvCxnSpPr>
        <p:spPr>
          <a:xfrm>
            <a:off x="5565648" y="1591056"/>
            <a:ext cx="274320"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1" name="Rounded Rectangle 120"/>
          <p:cNvSpPr/>
          <p:nvPr/>
        </p:nvSpPr>
        <p:spPr>
          <a:xfrm>
            <a:off x="5839968" y="1188720"/>
            <a:ext cx="2621280" cy="804672"/>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i="0">
                <a:solidFill>
                  <a:srgbClr val="000000"/>
                </a:solidFill>
                <a:latin typeface="Calibri"/>
              </a:rPr>
              <a:t>Producer</a:t>
            </a:r>
          </a:p>
          <a:p>
            <a:pPr algn="ctr"/>
            <a:r>
              <a:rPr sz="1400" b="0" i="0">
                <a:solidFill>
                  <a:srgbClr val="595959"/>
                </a:solidFill>
                <a:latin typeface="Calibri"/>
              </a:rPr>
              <a:t>confluent-kafka 2.15</a:t>
            </a:r>
          </a:p>
        </p:txBody>
      </p:sp>
      <p:cxnSp>
        <p:nvCxnSpPr>
          <p:cNvPr id="122" name="Connector 121"/>
          <p:cNvCxnSpPr/>
          <p:nvPr/>
        </p:nvCxnSpPr>
        <p:spPr>
          <a:xfrm>
            <a:off x="8461248" y="1591056"/>
            <a:ext cx="274320"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3" name="Rounded Rectangle 122"/>
          <p:cNvSpPr/>
          <p:nvPr/>
        </p:nvSpPr>
        <p:spPr>
          <a:xfrm>
            <a:off x="8735568" y="1188720"/>
            <a:ext cx="2621280" cy="804672"/>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i="0">
                <a:solidFill>
                  <a:srgbClr val="000000"/>
                </a:solidFill>
                <a:latin typeface="Calibri"/>
              </a:rPr>
              <a:t>Kafka 3.9.1 (KRaft)</a:t>
            </a:r>
          </a:p>
          <a:p>
            <a:pPr algn="ctr"/>
            <a:r>
              <a:rPr sz="1400" b="0" i="0">
                <a:solidFill>
                  <a:srgbClr val="595959"/>
                </a:solidFill>
                <a:latin typeface="Calibri"/>
              </a:rPr>
              <a:t>topic tweets, 1 partition</a:t>
            </a:r>
          </a:p>
        </p:txBody>
      </p:sp>
      <p:cxnSp>
        <p:nvCxnSpPr>
          <p:cNvPr id="124" name="Connector 123"/>
          <p:cNvCxnSpPr/>
          <p:nvPr/>
        </p:nvCxnSpPr>
        <p:spPr>
          <a:xfrm>
            <a:off x="7150608" y="1993392"/>
            <a:ext cx="0" cy="292608"/>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5" name="Rectangle 124"/>
          <p:cNvSpPr/>
          <p:nvPr/>
        </p:nvSpPr>
        <p:spPr>
          <a:xfrm>
            <a:off x="841248" y="2286000"/>
            <a:ext cx="1828800" cy="804672"/>
          </a:xfrm>
          <a:prstGeom prst="rect">
            <a:avLst/>
          </a:prstGeom>
          <a:solidFill>
            <a:srgbClr val="F2F2F2"/>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i="0">
                <a:solidFill>
                  <a:srgbClr val="000000"/>
                </a:solidFill>
                <a:latin typeface="Calibri"/>
              </a:rPr>
              <a:t>Process</a:t>
            </a:r>
          </a:p>
        </p:txBody>
      </p:sp>
      <p:sp>
        <p:nvSpPr>
          <p:cNvPr id="126" name="Rounded Rectangle 125"/>
          <p:cNvSpPr/>
          <p:nvPr/>
        </p:nvSpPr>
        <p:spPr>
          <a:xfrm>
            <a:off x="2944368" y="2286000"/>
            <a:ext cx="4069079" cy="804672"/>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i="0">
                <a:solidFill>
                  <a:srgbClr val="000000"/>
                </a:solidFill>
                <a:latin typeface="Calibri"/>
              </a:rPr>
              <a:t>Spark executors</a:t>
            </a:r>
          </a:p>
          <a:p>
            <a:pPr algn="ctr"/>
            <a:r>
              <a:rPr sz="1400" b="0" i="0">
                <a:solidFill>
                  <a:srgbClr val="595959"/>
                </a:solidFill>
                <a:latin typeface="Calibri"/>
              </a:rPr>
              <a:t>read Kafka, parse JSON, tokenize</a:t>
            </a:r>
          </a:p>
        </p:txBody>
      </p:sp>
      <p:sp>
        <p:nvSpPr>
          <p:cNvPr id="127" name="Rounded Rectangle 126"/>
          <p:cNvSpPr/>
          <p:nvPr/>
        </p:nvSpPr>
        <p:spPr>
          <a:xfrm>
            <a:off x="7287767" y="2286000"/>
            <a:ext cx="4069079" cy="804672"/>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i="0">
                <a:solidFill>
                  <a:srgbClr val="000000"/>
                </a:solidFill>
                <a:latin typeface="Calibri"/>
              </a:rPr>
              <a:t>Spark driver: foreachBatch</a:t>
            </a:r>
          </a:p>
          <a:p>
            <a:pPr algn="ctr"/>
            <a:r>
              <a:rPr sz="1400" b="0" i="0">
                <a:solidFill>
                  <a:srgbClr val="595959"/>
                </a:solidFill>
                <a:latin typeface="Calibri"/>
              </a:rPr>
              <a:t>predict, then learn, tweet by tweet</a:t>
            </a:r>
          </a:p>
        </p:txBody>
      </p:sp>
      <p:cxnSp>
        <p:nvCxnSpPr>
          <p:cNvPr id="128" name="Connector 127"/>
          <p:cNvCxnSpPr/>
          <p:nvPr/>
        </p:nvCxnSpPr>
        <p:spPr>
          <a:xfrm>
            <a:off x="7150608" y="3090672"/>
            <a:ext cx="0" cy="292607"/>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9" name="Rectangle 128"/>
          <p:cNvSpPr/>
          <p:nvPr/>
        </p:nvSpPr>
        <p:spPr>
          <a:xfrm>
            <a:off x="841248" y="3383280"/>
            <a:ext cx="1828800" cy="804672"/>
          </a:xfrm>
          <a:prstGeom prst="rect">
            <a:avLst/>
          </a:prstGeom>
          <a:solidFill>
            <a:srgbClr val="F2F2F2"/>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i="0">
                <a:solidFill>
                  <a:srgbClr val="000000"/>
                </a:solidFill>
                <a:latin typeface="Calibri"/>
              </a:rPr>
              <a:t>Models</a:t>
            </a:r>
          </a:p>
        </p:txBody>
      </p:sp>
      <p:sp>
        <p:nvSpPr>
          <p:cNvPr id="130" name="Rounded Rectangle 129"/>
          <p:cNvSpPr/>
          <p:nvPr/>
        </p:nvSpPr>
        <p:spPr>
          <a:xfrm>
            <a:off x="2944368" y="3383280"/>
            <a:ext cx="4069079" cy="804672"/>
          </a:xfrm>
          <a:prstGeom prst="roundRect">
            <a:avLst>
              <a:gd name="adj" fmla="val 15000"/>
            </a:avLst>
          </a:prstGeom>
          <a:solidFill>
            <a:srgbClr val="FFFFFF"/>
          </a:solidFill>
          <a:ln w="222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i="0">
                <a:solidFill>
                  <a:srgbClr val="000000"/>
                </a:solidFill>
                <a:latin typeface="Calibri"/>
              </a:rPr>
              <a:t>Baseline</a:t>
            </a:r>
          </a:p>
          <a:p>
            <a:pPr algn="ctr"/>
            <a:r>
              <a:rPr sz="1400" b="0" i="0">
                <a:solidFill>
                  <a:srgbClr val="595959"/>
                </a:solidFill>
                <a:latin typeface="Calibri"/>
              </a:rPr>
              <a:t>ageing naive Bayes + vocabulary detector</a:t>
            </a:r>
          </a:p>
        </p:txBody>
      </p:sp>
      <p:sp>
        <p:nvSpPr>
          <p:cNvPr id="131" name="Rounded Rectangle 130"/>
          <p:cNvSpPr/>
          <p:nvPr/>
        </p:nvSpPr>
        <p:spPr>
          <a:xfrm>
            <a:off x="7287767" y="3383280"/>
            <a:ext cx="4069079" cy="804672"/>
          </a:xfrm>
          <a:prstGeom prst="roundRect">
            <a:avLst>
              <a:gd name="adj" fmla="val 15000"/>
            </a:avLst>
          </a:prstGeom>
          <a:solidFill>
            <a:srgbClr val="FFFFFF"/>
          </a:solidFill>
          <a:ln w="222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i="0">
                <a:solidFill>
                  <a:srgbClr val="000000"/>
                </a:solidFill>
                <a:latin typeface="Calibri"/>
              </a:rPr>
              <a:t>Enhanced</a:t>
            </a:r>
          </a:p>
          <a:p>
            <a:pPr algn="ctr"/>
            <a:r>
              <a:rPr sz="1400" b="0" i="0">
                <a:solidFill>
                  <a:srgbClr val="595959"/>
                </a:solidFill>
                <a:latin typeface="Calibri"/>
              </a:rPr>
              <a:t>baseline + ADWIN on the errors (River)</a:t>
            </a:r>
          </a:p>
        </p:txBody>
      </p:sp>
      <p:cxnSp>
        <p:nvCxnSpPr>
          <p:cNvPr id="132" name="Connector 131"/>
          <p:cNvCxnSpPr/>
          <p:nvPr/>
        </p:nvCxnSpPr>
        <p:spPr>
          <a:xfrm>
            <a:off x="7150608" y="4187952"/>
            <a:ext cx="0" cy="292608"/>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3" name="Rectangle 132"/>
          <p:cNvSpPr/>
          <p:nvPr/>
        </p:nvSpPr>
        <p:spPr>
          <a:xfrm>
            <a:off x="841248" y="4480559"/>
            <a:ext cx="1828800" cy="804672"/>
          </a:xfrm>
          <a:prstGeom prst="rect">
            <a:avLst/>
          </a:prstGeom>
          <a:solidFill>
            <a:srgbClr val="F2F2F2"/>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i="0">
                <a:solidFill>
                  <a:srgbClr val="000000"/>
                </a:solidFill>
                <a:latin typeface="Calibri"/>
              </a:rPr>
              <a:t>Serve</a:t>
            </a:r>
          </a:p>
        </p:txBody>
      </p:sp>
      <p:sp>
        <p:nvSpPr>
          <p:cNvPr id="134" name="Rounded Rectangle 133"/>
          <p:cNvSpPr/>
          <p:nvPr/>
        </p:nvSpPr>
        <p:spPr>
          <a:xfrm>
            <a:off x="2944368" y="4480559"/>
            <a:ext cx="4069079" cy="804672"/>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i="0">
                <a:solidFill>
                  <a:srgbClr val="000000"/>
                </a:solidFill>
                <a:latin typeface="Calibri"/>
              </a:rPr>
              <a:t>InfluxDB 2.7</a:t>
            </a:r>
          </a:p>
          <a:p>
            <a:pPr algn="ctr"/>
            <a:r>
              <a:rPr sz="1400" b="0" i="0">
                <a:solidFill>
                  <a:srgbClr val="595959"/>
                </a:solidFill>
                <a:latin typeface="Calibri"/>
              </a:rPr>
              <a:t>per-model + pipeline metrics, drift events</a:t>
            </a:r>
          </a:p>
        </p:txBody>
      </p:sp>
      <p:sp>
        <p:nvSpPr>
          <p:cNvPr id="135" name="Rounded Rectangle 134"/>
          <p:cNvSpPr/>
          <p:nvPr/>
        </p:nvSpPr>
        <p:spPr>
          <a:xfrm>
            <a:off x="7287767" y="4480559"/>
            <a:ext cx="4069079" cy="804672"/>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i="0">
                <a:solidFill>
                  <a:srgbClr val="000000"/>
                </a:solidFill>
                <a:latin typeface="Calibri"/>
              </a:rPr>
              <a:t>Grafana 11.5.2</a:t>
            </a:r>
          </a:p>
          <a:p>
            <a:pPr algn="ctr"/>
            <a:r>
              <a:rPr sz="1400" b="0" i="0">
                <a:solidFill>
                  <a:srgbClr val="595959"/>
                </a:solidFill>
                <a:latin typeface="Calibri"/>
              </a:rPr>
              <a:t>live dashboard + drift markers</a:t>
            </a:r>
          </a:p>
        </p:txBody>
      </p:sp>
      <p:sp>
        <p:nvSpPr>
          <p:cNvPr id="136" name="TextBox 135"/>
          <p:cNvSpPr txBox="1"/>
          <p:nvPr/>
        </p:nvSpPr>
        <p:spPr>
          <a:xfrm>
            <a:off x="841248" y="5596128"/>
            <a:ext cx="10515600" cy="365760"/>
          </a:xfrm>
          <a:prstGeom prst="rect">
            <a:avLst/>
          </a:prstGeom>
          <a:noFill/>
        </p:spPr>
        <p:txBody>
          <a:bodyPr wrap="square">
            <a:spAutoFit/>
          </a:bodyPr>
          <a:lstStyle/>
          <a:p>
            <a:pPr algn="l"/>
            <a:r>
              <a:rPr sz="1200" b="0" i="1">
                <a:solidFill>
                  <a:srgbClr val="595959"/>
                </a:solidFill>
                <a:latin typeface="Calibri"/>
              </a:rPr>
              <a:t>Kafka, Kafka UI, Spark master + worker, InfluxDB and Grafana run in Docker Compose; one Python package (core/) holds the models for both the live and the offline runner.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Baseline: Informed Ageing Naive Bayes</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sp>
        <p:nvSpPr>
          <p:cNvPr id="118" name="TextBox 117"/>
          <p:cNvSpPr txBox="1"/>
          <p:nvPr/>
        </p:nvSpPr>
        <p:spPr>
          <a:xfrm>
            <a:off x="841248" y="1234440"/>
            <a:ext cx="6035040" cy="4389120"/>
          </a:xfrm>
          <a:prstGeom prst="rect">
            <a:avLst/>
          </a:prstGeom>
          <a:noFill/>
        </p:spPr>
        <p:txBody>
          <a:bodyPr wrap="square">
            <a:spAutoFit/>
          </a:bodyPr>
          <a:lstStyle/>
          <a:p>
            <a:pPr marL="342900" indent="-274320">
              <a:buChar char="•"/>
            </a:pPr>
            <a:r>
              <a:rPr sz="1900" b="0" i="0">
                <a:solidFill>
                  <a:srgbClr val="000000"/>
                </a:solidFill>
                <a:latin typeface="Calibri"/>
              </a:rPr>
              <a:t>Multinomial naive Bayes whose counts fade with age:</a:t>
            </a:r>
          </a:p>
          <a:p>
            <a:pPr marL="685800" indent="-274320">
              <a:spcBef>
                <a:spcPts val="500"/>
              </a:spcBef>
              <a:buChar char="–"/>
            </a:pPr>
            <a:r>
              <a:rPr sz="1700" b="0" i="0">
                <a:solidFill>
                  <a:srgbClr val="000000"/>
                </a:solidFill>
                <a:latin typeface="Calibri"/>
              </a:rPr>
              <a:t>weight of a word in a class  ∝  count × e^(−λ · hours since last seen)</a:t>
            </a:r>
          </a:p>
          <a:p>
            <a:pPr marL="342900" indent="-274320">
              <a:spcBef>
                <a:spcPts val="1000"/>
              </a:spcBef>
              <a:buChar char="•"/>
            </a:pPr>
            <a:r>
              <a:rPr sz="1900" b="0" i="0">
                <a:solidFill>
                  <a:srgbClr val="000000"/>
                </a:solidFill>
                <a:latin typeface="Calibri"/>
              </a:rPr>
              <a:t>Vocabulary detector, every w tweets, per class:</a:t>
            </a:r>
          </a:p>
          <a:p>
            <a:pPr marL="685800" indent="-274320">
              <a:spcBef>
                <a:spcPts val="500"/>
              </a:spcBef>
              <a:buChar char="–"/>
            </a:pPr>
            <a:r>
              <a:rPr sz="1700" b="0" i="0">
                <a:solidFill>
                  <a:srgbClr val="000000"/>
                </a:solidFill>
                <a:latin typeface="Calibri"/>
              </a:rPr>
              <a:t>overlap of the latest window's words with the previous window's</a:t>
            </a:r>
          </a:p>
          <a:p>
            <a:pPr marL="685800" indent="-274320">
              <a:spcBef>
                <a:spcPts val="500"/>
              </a:spcBef>
              <a:buChar char="–"/>
            </a:pPr>
            <a:r>
              <a:rPr sz="1700" b="0" i="0">
                <a:solidFill>
                  <a:srgbClr val="000000"/>
                </a:solidFill>
                <a:latin typeface="Calibri"/>
              </a:rPr>
              <a:t>alarm if it leaves mean ± 1.8 standard deviations</a:t>
            </a:r>
          </a:p>
          <a:p>
            <a:pPr marL="342900" indent="-274320">
              <a:spcBef>
                <a:spcPts val="1000"/>
              </a:spcBef>
              <a:buChar char="•"/>
            </a:pPr>
            <a:r>
              <a:rPr sz="1900" b="0" i="0">
                <a:solidFill>
                  <a:srgbClr val="000000"/>
                </a:solidFill>
                <a:latin typeface="Calibri"/>
              </a:rPr>
              <a:t>On an alarm: forget faster (raise λ) or rebuild the model; 5 strategies from the paper</a:t>
            </a:r>
          </a:p>
        </p:txBody>
      </p:sp>
      <p:sp>
        <p:nvSpPr>
          <p:cNvPr id="119" name="Rectangle 118"/>
          <p:cNvSpPr/>
          <p:nvPr/>
        </p:nvSpPr>
        <p:spPr>
          <a:xfrm>
            <a:off x="7269480" y="1325880"/>
            <a:ext cx="4023360" cy="566928"/>
          </a:xfrm>
          <a:prstGeom prst="rect">
            <a:avLst/>
          </a:prstGeom>
          <a:solidFill>
            <a:srgbClr val="F2F2F2"/>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i="0">
                <a:solidFill>
                  <a:srgbClr val="000000"/>
                </a:solidFill>
                <a:latin typeface="Calibri"/>
              </a:rPr>
              <a:t>Details we had to fix</a:t>
            </a:r>
          </a:p>
        </p:txBody>
      </p:sp>
      <p:sp>
        <p:nvSpPr>
          <p:cNvPr id="120" name="TextBox 119"/>
          <p:cNvSpPr txBox="1"/>
          <p:nvPr/>
        </p:nvSpPr>
        <p:spPr>
          <a:xfrm>
            <a:off x="7269480" y="2011680"/>
            <a:ext cx="4023360" cy="3474720"/>
          </a:xfrm>
          <a:prstGeom prst="rect">
            <a:avLst/>
          </a:prstGeom>
          <a:noFill/>
        </p:spPr>
        <p:txBody>
          <a:bodyPr wrap="square">
            <a:spAutoFit/>
          </a:bodyPr>
          <a:lstStyle/>
          <a:p>
            <a:pPr marL="342900" indent="-274320">
              <a:buChar char="•"/>
            </a:pPr>
            <a:r>
              <a:rPr sz="1600" b="0" i="0">
                <a:solidFill>
                  <a:srgbClr val="000000"/>
                </a:solidFill>
                <a:latin typeface="Calibri"/>
              </a:rPr>
              <a:t>Time measured in hours: per tweet, the model forgot everything within ~100 tweets</a:t>
            </a:r>
          </a:p>
          <a:p>
            <a:pPr marL="342900" indent="-274320">
              <a:spcBef>
                <a:spcPts val="1000"/>
              </a:spcBef>
              <a:buChar char="•"/>
            </a:pPr>
            <a:r>
              <a:rPr sz="1600" b="0" i="0">
                <a:solidFill>
                  <a:srgbClr val="000000"/>
                </a:solidFill>
                <a:latin typeface="Calibri"/>
              </a:rPr>
              <a:t>Compare with the previous window, not all words so far: otherwise the score drifts down and the detector fires constantly</a:t>
            </a:r>
          </a:p>
          <a:p>
            <a:pPr marL="342900" indent="-274320">
              <a:spcBef>
                <a:spcPts val="1000"/>
              </a:spcBef>
              <a:buChar char="•"/>
            </a:pPr>
            <a:r>
              <a:rPr sz="1600" b="0" i="0">
                <a:solidFill>
                  <a:srgbClr val="000000"/>
                </a:solidFill>
                <a:latin typeface="Calibri"/>
              </a:rPr>
              <a:t>Mean / deviation over 20 checks instead of 10: removes false alarms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Enhancement: ADWIN on the Errors</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sp>
        <p:nvSpPr>
          <p:cNvPr id="118" name="Rounded Rectangle 117"/>
          <p:cNvSpPr/>
          <p:nvPr/>
        </p:nvSpPr>
        <p:spPr>
          <a:xfrm>
            <a:off x="841248" y="1188720"/>
            <a:ext cx="4206240" cy="621792"/>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0" i="0">
                <a:solidFill>
                  <a:srgbClr val="000000"/>
                </a:solidFill>
                <a:latin typeface="Calibri"/>
              </a:rPr>
              <a:t>Predict the tweet</a:t>
            </a:r>
          </a:p>
        </p:txBody>
      </p:sp>
      <p:cxnSp>
        <p:nvCxnSpPr>
          <p:cNvPr id="119" name="Connector 118"/>
          <p:cNvCxnSpPr/>
          <p:nvPr/>
        </p:nvCxnSpPr>
        <p:spPr>
          <a:xfrm>
            <a:off x="2944368" y="1810512"/>
            <a:ext cx="0" cy="246888"/>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0" name="Rounded Rectangle 119"/>
          <p:cNvSpPr/>
          <p:nvPr/>
        </p:nvSpPr>
        <p:spPr>
          <a:xfrm>
            <a:off x="841248" y="2057400"/>
            <a:ext cx="4206240" cy="621792"/>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0" i="0">
                <a:solidFill>
                  <a:srgbClr val="000000"/>
                </a:solidFill>
                <a:latin typeface="Calibri"/>
              </a:rPr>
              <a:t>Learn its label</a:t>
            </a:r>
          </a:p>
        </p:txBody>
      </p:sp>
      <p:cxnSp>
        <p:nvCxnSpPr>
          <p:cNvPr id="121" name="Connector 120"/>
          <p:cNvCxnSpPr/>
          <p:nvPr/>
        </p:nvCxnSpPr>
        <p:spPr>
          <a:xfrm>
            <a:off x="2944368" y="2679192"/>
            <a:ext cx="0" cy="246888"/>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2" name="Rounded Rectangle 121"/>
          <p:cNvSpPr/>
          <p:nvPr/>
        </p:nvSpPr>
        <p:spPr>
          <a:xfrm>
            <a:off x="841248" y="2926080"/>
            <a:ext cx="4206240" cy="621792"/>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0" i="0">
                <a:solidFill>
                  <a:srgbClr val="000000"/>
                </a:solidFill>
                <a:latin typeface="Calibri"/>
              </a:rPr>
              <a:t>Error: right = 0, wrong = 1</a:t>
            </a:r>
          </a:p>
        </p:txBody>
      </p:sp>
      <p:cxnSp>
        <p:nvCxnSpPr>
          <p:cNvPr id="123" name="Connector 122"/>
          <p:cNvCxnSpPr/>
          <p:nvPr/>
        </p:nvCxnSpPr>
        <p:spPr>
          <a:xfrm>
            <a:off x="2944368" y="3547872"/>
            <a:ext cx="0" cy="246888"/>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4" name="Rounded Rectangle 123"/>
          <p:cNvSpPr/>
          <p:nvPr/>
        </p:nvSpPr>
        <p:spPr>
          <a:xfrm>
            <a:off x="841248" y="3794759"/>
            <a:ext cx="4206240" cy="621792"/>
          </a:xfrm>
          <a:prstGeom prst="roundRect">
            <a:avLst>
              <a:gd name="adj" fmla="val 15000"/>
            </a:avLst>
          </a:prstGeom>
          <a:solidFill>
            <a:srgbClr val="FFFFFF"/>
          </a:solidFill>
          <a:ln w="222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i="0">
                <a:solidFill>
                  <a:srgbClr val="000000"/>
                </a:solidFill>
                <a:latin typeface="Calibri"/>
              </a:rPr>
              <a:t>ADWIN (River, δ = 0.01)</a:t>
            </a:r>
          </a:p>
          <a:p>
            <a:pPr algn="ctr"/>
            <a:r>
              <a:rPr sz="1400" b="0" i="0">
                <a:solidFill>
                  <a:srgbClr val="595959"/>
                </a:solidFill>
                <a:latin typeface="Calibri"/>
              </a:rPr>
              <a:t>alarm if the error rate rises</a:t>
            </a:r>
          </a:p>
        </p:txBody>
      </p:sp>
      <p:cxnSp>
        <p:nvCxnSpPr>
          <p:cNvPr id="125" name="Connector 124"/>
          <p:cNvCxnSpPr/>
          <p:nvPr/>
        </p:nvCxnSpPr>
        <p:spPr>
          <a:xfrm>
            <a:off x="2944368" y="4416551"/>
            <a:ext cx="0" cy="246889"/>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6" name="Rounded Rectangle 125"/>
          <p:cNvSpPr/>
          <p:nvPr/>
        </p:nvSpPr>
        <p:spPr>
          <a:xfrm>
            <a:off x="841248" y="4663440"/>
            <a:ext cx="4206240" cy="621792"/>
          </a:xfrm>
          <a:prstGeom prst="roundRect">
            <a:avLst>
              <a:gd name="adj" fmla="val 15000"/>
            </a:avLst>
          </a:prstGeom>
          <a:solidFill>
            <a:srgbClr val="FFFFFF"/>
          </a:solidFill>
          <a:ln w="222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0" i="0">
                <a:solidFill>
                  <a:srgbClr val="000000"/>
                </a:solidFill>
                <a:latin typeface="Calibri"/>
              </a:rPr>
              <a:t>Rebuild on the tweets after the change</a:t>
            </a:r>
          </a:p>
          <a:p>
            <a:pPr algn="ctr"/>
            <a:r>
              <a:rPr sz="1400" b="0" i="0">
                <a:solidFill>
                  <a:srgbClr val="595959"/>
                </a:solidFill>
                <a:latin typeface="Calibri"/>
              </a:rPr>
              <a:t>only the new concept</a:t>
            </a:r>
          </a:p>
        </p:txBody>
      </p:sp>
      <p:sp>
        <p:nvSpPr>
          <p:cNvPr id="127" name="TextBox 126"/>
          <p:cNvSpPr txBox="1"/>
          <p:nvPr/>
        </p:nvSpPr>
        <p:spPr>
          <a:xfrm>
            <a:off x="5577840" y="1188720"/>
            <a:ext cx="5760720" cy="2377440"/>
          </a:xfrm>
          <a:prstGeom prst="rect">
            <a:avLst/>
          </a:prstGeom>
          <a:noFill/>
        </p:spPr>
        <p:txBody>
          <a:bodyPr wrap="square">
            <a:spAutoFit/>
          </a:bodyPr>
          <a:lstStyle/>
          <a:p>
            <a:pPr marL="342900" indent="-274320">
              <a:buChar char="•"/>
            </a:pPr>
            <a:r>
              <a:rPr sz="1800" b="0" i="0">
                <a:solidFill>
                  <a:srgbClr val="000000"/>
                </a:solidFill>
                <a:latin typeface="Calibri"/>
              </a:rPr>
              <a:t>Every tweet is tested before it is learned, so the error comes for free</a:t>
            </a:r>
          </a:p>
          <a:p>
            <a:pPr marL="342900" indent="-274320">
              <a:spcBef>
                <a:spcPts val="1000"/>
              </a:spcBef>
              <a:buChar char="•"/>
            </a:pPr>
            <a:r>
              <a:rPr sz="1800" b="0" i="0">
                <a:solidFill>
                  <a:srgbClr val="000000"/>
                </a:solidFill>
                <a:latin typeface="Calibri"/>
              </a:rPr>
              <a:t>Sees changes in meaning even when the words stay the same</a:t>
            </a:r>
          </a:p>
          <a:p>
            <a:pPr marL="342900" indent="-274320">
              <a:spcBef>
                <a:spcPts val="1000"/>
              </a:spcBef>
              <a:buChar char="•"/>
            </a:pPr>
            <a:r>
              <a:rPr sz="1800" b="0" i="0">
                <a:solidFill>
                  <a:srgbClr val="000000"/>
                </a:solidFill>
                <a:latin typeface="Calibri"/>
              </a:rPr>
              <a:t>Checks every tweet, not once per 24k-tweet window</a:t>
            </a:r>
          </a:p>
        </p:txBody>
      </p:sp>
      <p:graphicFrame>
        <p:nvGraphicFramePr>
          <p:cNvPr id="128" name="Table 127"/>
          <p:cNvGraphicFramePr>
            <a:graphicFrameLocks noGrp="1"/>
          </p:cNvGraphicFramePr>
          <p:nvPr/>
        </p:nvGraphicFramePr>
        <p:xfrm>
          <a:off x="5577840" y="3520440"/>
          <a:ext cx="5760719" cy="1828800"/>
        </p:xfrm>
        <a:graphic>
          <a:graphicData uri="http://schemas.openxmlformats.org/drawingml/2006/table">
            <a:tbl>
              <a:tblPr/>
              <a:tblGrid>
                <a:gridCol w="1838527"/>
                <a:gridCol w="3922192"/>
              </a:tblGrid>
              <a:tr h="365760">
                <a:tc>
                  <a:txBody>
                    <a:bodyPr wrap="square"/>
                    <a:lstStyle/>
                    <a:p>
                      <a:pPr algn="ctr"/>
                      <a:r>
                        <a:rPr sz="1500" b="1" i="0">
                          <a:solidFill>
                            <a:srgbClr val="000000"/>
                          </a:solidFill>
                          <a:latin typeface="Calibri"/>
                        </a:rPr>
                        <a:t>Fusion mode</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wrap="square"/>
                    <a:lstStyle/>
                    <a:p>
                      <a:pPr algn="ctr"/>
                      <a:r>
                        <a:rPr sz="1500" b="1" i="0">
                          <a:solidFill>
                            <a:srgbClr val="000000"/>
                          </a:solidFill>
                          <a:latin typeface="Calibri"/>
                        </a:rPr>
                        <a:t>Model reacts when</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r>
              <a:tr h="365760">
                <a:tc>
                  <a:txBody>
                    <a:bodyPr wrap="square"/>
                    <a:lstStyle/>
                    <a:p>
                      <a:pPr algn="l"/>
                      <a:r>
                        <a:rPr sz="1500" b="0" i="0">
                          <a:solidFill>
                            <a:srgbClr val="000000"/>
                          </a:solidFill>
                          <a:latin typeface="Calibri"/>
                        </a:rPr>
                        <a:t>vocab only</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the word detector fires (= baseline)</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65760">
                <a:tc>
                  <a:txBody>
                    <a:bodyPr wrap="square"/>
                    <a:lstStyle/>
                    <a:p>
                      <a:pPr algn="l"/>
                      <a:r>
                        <a:rPr sz="1500" b="0" i="0">
                          <a:solidFill>
                            <a:srgbClr val="000000"/>
                          </a:solidFill>
                          <a:latin typeface="Calibri"/>
                        </a:rPr>
                        <a:t>ADWIN only</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ADWIN fires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65760">
                <a:tc>
                  <a:txBody>
                    <a:bodyPr wrap="square"/>
                    <a:lstStyle/>
                    <a:p>
                      <a:pPr algn="l"/>
                      <a:r>
                        <a:rPr sz="1500" b="0" i="0">
                          <a:solidFill>
                            <a:srgbClr val="000000"/>
                          </a:solidFill>
                          <a:latin typeface="Calibri"/>
                        </a:rPr>
                        <a:t>OR (main)</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either detector fires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65760">
                <a:tc>
                  <a:txBody>
                    <a:bodyPr wrap="square"/>
                    <a:lstStyle/>
                    <a:p>
                      <a:pPr algn="l"/>
                      <a:r>
                        <a:rPr sz="1500" b="0" i="0">
                          <a:solidFill>
                            <a:srgbClr val="000000"/>
                          </a:solidFill>
                          <a:latin typeface="Calibri"/>
                        </a:rPr>
                        <a:t>AND</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both fire within one window</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Data and Drift Scenarios</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graphicFrame>
        <p:nvGraphicFramePr>
          <p:cNvPr id="118" name="Table 117"/>
          <p:cNvGraphicFramePr>
            <a:graphicFrameLocks noGrp="1"/>
          </p:cNvGraphicFramePr>
          <p:nvPr/>
        </p:nvGraphicFramePr>
        <p:xfrm>
          <a:off x="841248" y="1188720"/>
          <a:ext cx="10515599" cy="2944368"/>
        </p:xfrm>
        <a:graphic>
          <a:graphicData uri="http://schemas.openxmlformats.org/drawingml/2006/table">
            <a:tbl>
              <a:tblPr/>
              <a:tblGrid>
                <a:gridCol w="2751745"/>
                <a:gridCol w="6191428"/>
                <a:gridCol w="1572426"/>
              </a:tblGrid>
              <a:tr h="420624">
                <a:tc>
                  <a:txBody>
                    <a:bodyPr wrap="square"/>
                    <a:lstStyle/>
                    <a:p>
                      <a:pPr algn="ctr"/>
                      <a:r>
                        <a:rPr sz="1500" b="1" i="0">
                          <a:solidFill>
                            <a:srgbClr val="000000"/>
                          </a:solidFill>
                          <a:latin typeface="Calibri"/>
                        </a:rPr>
                        <a:t>Stream</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wrap="square"/>
                    <a:lstStyle/>
                    <a:p>
                      <a:pPr algn="ctr"/>
                      <a:r>
                        <a:rPr sz="1500" b="1" i="0">
                          <a:solidFill>
                            <a:srgbClr val="000000"/>
                          </a:solidFill>
                          <a:latin typeface="Calibri"/>
                        </a:rPr>
                        <a:t>What changes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wrap="square"/>
                    <a:lstStyle/>
                    <a:p>
                      <a:pPr algn="ctr"/>
                      <a:r>
                        <a:rPr sz="1500" b="1" i="0">
                          <a:solidFill>
                            <a:srgbClr val="000000"/>
                          </a:solidFill>
                          <a:latin typeface="Calibri"/>
                        </a:rPr>
                        <a:t>Size</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r>
              <a:tr h="420624">
                <a:tc>
                  <a:txBody>
                    <a:bodyPr wrap="square"/>
                    <a:lstStyle/>
                    <a:p>
                      <a:pPr algn="l"/>
                      <a:r>
                        <a:rPr sz="1500" b="1" i="0">
                          <a:solidFill>
                            <a:srgbClr val="000000"/>
                          </a:solidFill>
                          <a:latin typeface="Calibri"/>
                        </a:rPr>
                        <a:t>DS1: Sentiment140</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real data, sorted by time; all tweets negative from #1,324,775</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1.6M tweets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20624">
                <a:tc>
                  <a:txBody>
                    <a:bodyPr wrap="square"/>
                    <a:lstStyle/>
                    <a:p>
                      <a:pPr algn="l"/>
                      <a:r>
                        <a:rPr sz="1500" b="1" i="0">
                          <a:solidFill>
                            <a:srgbClr val="000000"/>
                          </a:solidFill>
                          <a:latin typeface="Calibri"/>
                        </a:rPr>
                        <a:t>DS2: volatile variant</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positive share swings 68 / 27 / 70 / 17 / 56 / 28 / 0 %</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1.07M tweets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20624">
                <a:tc>
                  <a:txBody>
                    <a:bodyPr wrap="square"/>
                    <a:lstStyle/>
                    <a:p>
                      <a:pPr algn="l"/>
                      <a:r>
                        <a:rPr sz="1500" b="1" i="0">
                          <a:solidFill>
                            <a:srgbClr val="000000"/>
                          </a:solidFill>
                          <a:latin typeface="Calibri"/>
                        </a:rPr>
                        <a:t>Sudden / gradual / recurring</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topic switch: work / school ↔ music / movies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80k × 5 seeds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20624">
                <a:tc>
                  <a:txBody>
                    <a:bodyPr wrap="square"/>
                    <a:lstStyle/>
                    <a:p>
                      <a:pPr algn="l"/>
                      <a:r>
                        <a:rPr sz="1500" b="1" i="0">
                          <a:solidFill>
                            <a:srgbClr val="000000"/>
                          </a:solidFill>
                          <a:latin typeface="Calibri"/>
                        </a:rPr>
                        <a:t>Prior shift</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50 % → 10 % positive</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80k × 5 seeds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20624">
                <a:tc>
                  <a:txBody>
                    <a:bodyPr wrap="square"/>
                    <a:lstStyle/>
                    <a:p>
                      <a:pPr algn="l"/>
                      <a:r>
                        <a:rPr sz="1500" b="1" i="0">
                          <a:solidFill>
                            <a:srgbClr val="000000"/>
                          </a:solidFill>
                          <a:latin typeface="Calibri"/>
                        </a:rPr>
                        <a:t>Label flip</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every label inverts at 40k; the words stay the same</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80k × 5 seeds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20624">
                <a:tc>
                  <a:txBody>
                    <a:bodyPr wrap="square"/>
                    <a:lstStyle/>
                    <a:p>
                      <a:pPr algn="l"/>
                      <a:r>
                        <a:rPr sz="1500" b="1" i="0">
                          <a:solidFill>
                            <a:srgbClr val="000000"/>
                          </a:solidFill>
                          <a:latin typeface="Calibri"/>
                        </a:rPr>
                        <a:t>Label flip (topic)</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only work / school labels invert</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80k × 5 seeds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119" name="TextBox 118"/>
          <p:cNvSpPr txBox="1"/>
          <p:nvPr/>
        </p:nvSpPr>
        <p:spPr>
          <a:xfrm>
            <a:off x="841248" y="4343400"/>
            <a:ext cx="10515600" cy="365760"/>
          </a:xfrm>
          <a:prstGeom prst="rect">
            <a:avLst/>
          </a:prstGeom>
          <a:noFill/>
        </p:spPr>
        <p:txBody>
          <a:bodyPr wrap="square">
            <a:spAutoFit/>
          </a:bodyPr>
          <a:lstStyle/>
          <a:p>
            <a:pPr algn="l"/>
            <a:r>
              <a:rPr sz="1200" b="0" i="1">
                <a:solidFill>
                  <a:srgbClr val="595959"/>
                </a:solidFill>
                <a:latin typeface="Calibri"/>
              </a:rPr>
              <a:t>Scenarios use real tweets re-timestamped as in Costa et al. [2]; every stream has a file of its true drift points.</a:t>
            </a:r>
          </a:p>
        </p:txBody>
      </p:sp>
      <p:sp>
        <p:nvSpPr>
          <p:cNvPr id="120" name="TextBox 119"/>
          <p:cNvSpPr txBox="1"/>
          <p:nvPr/>
        </p:nvSpPr>
        <p:spPr>
          <a:xfrm>
            <a:off x="841248" y="4754880"/>
            <a:ext cx="10515600" cy="914400"/>
          </a:xfrm>
          <a:prstGeom prst="rect">
            <a:avLst/>
          </a:prstGeom>
          <a:noFill/>
        </p:spPr>
        <p:txBody>
          <a:bodyPr wrap="square">
            <a:spAutoFit/>
          </a:bodyPr>
          <a:lstStyle/>
          <a:p>
            <a:pPr marL="342900" indent="-274320">
              <a:buChar char="•"/>
            </a:pPr>
            <a:r>
              <a:rPr sz="1700" b="1" i="0">
                <a:solidFill>
                  <a:srgbClr val="000000"/>
                </a:solidFill>
                <a:latin typeface="Calibri"/>
              </a:rPr>
              <a:t>Metrics: </a:t>
            </a:r>
            <a:r>
              <a:rPr sz="1700" b="0" i="0">
                <a:solidFill>
                  <a:srgbClr val="000000"/>
                </a:solidFill>
                <a:latin typeface="Calibri"/>
              </a:rPr>
              <a:t>accuracy, macro precision / recall / F1, detection delay, false alarms, missed drifts, recovery time, throughput, latency, memory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Implementation: Tools and Versions</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graphicFrame>
        <p:nvGraphicFramePr>
          <p:cNvPr id="118" name="Table 117"/>
          <p:cNvGraphicFramePr>
            <a:graphicFrameLocks noGrp="1"/>
          </p:cNvGraphicFramePr>
          <p:nvPr/>
        </p:nvGraphicFramePr>
        <p:xfrm>
          <a:off x="841248" y="1188720"/>
          <a:ext cx="10515599" cy="3657600"/>
        </p:xfrm>
        <a:graphic>
          <a:graphicData uri="http://schemas.openxmlformats.org/drawingml/2006/table">
            <a:tbl>
              <a:tblPr/>
              <a:tblGrid>
                <a:gridCol w="4089400"/>
                <a:gridCol w="2726266"/>
                <a:gridCol w="3699933"/>
              </a:tblGrid>
              <a:tr h="457200">
                <a:tc>
                  <a:txBody>
                    <a:bodyPr wrap="square"/>
                    <a:lstStyle/>
                    <a:p>
                      <a:pPr algn="ctr"/>
                      <a:r>
                        <a:rPr sz="1500" b="1" i="0">
                          <a:solidFill>
                            <a:srgbClr val="000000"/>
                          </a:solidFill>
                          <a:latin typeface="Calibri"/>
                        </a:rPr>
                        <a:t>Tool</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wrap="square"/>
                    <a:lstStyle/>
                    <a:p>
                      <a:pPr algn="ctr"/>
                      <a:r>
                        <a:rPr sz="1500" b="1" i="0">
                          <a:solidFill>
                            <a:srgbClr val="000000"/>
                          </a:solidFill>
                          <a:latin typeface="Calibri"/>
                        </a:rPr>
                        <a:t>Version</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wrap="square"/>
                    <a:lstStyle/>
                    <a:p>
                      <a:pPr algn="ctr"/>
                      <a:r>
                        <a:rPr sz="1500" b="1" i="0">
                          <a:solidFill>
                            <a:srgbClr val="000000"/>
                          </a:solidFill>
                          <a:latin typeface="Calibri"/>
                        </a:rPr>
                        <a:t>Role</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r>
              <a:tr h="457200">
                <a:tc>
                  <a:txBody>
                    <a:bodyPr wrap="square"/>
                    <a:lstStyle/>
                    <a:p>
                      <a:pPr algn="l"/>
                      <a:r>
                        <a:rPr sz="1500" b="1" i="0">
                          <a:solidFill>
                            <a:srgbClr val="000000"/>
                          </a:solidFill>
                          <a:latin typeface="Calibri"/>
                        </a:rPr>
                        <a:t>Apache Kafka (KRaft) + confluent-kafka</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3.9.1 + 2.15.1</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ordered, replayable tweet stream</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Apache Spark Structured Streaming</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3.5.3</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parse, tokenize, run both models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River</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0.26.1 / 0.22.0 in Spark</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ADWIN drift detector</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InfluxDB + Grafana OSS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2.7 + 11.5.2</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metrics store, live dashboard</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Docker + Compose</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28.3.2 + 2.39.1</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runs all six services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Python, pandas, pyarrow</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3.12.4, 3.0.6, 25.0.1</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data preparation, offline runner</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scikit-learn, pytest</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1.9.1, 9.1.1</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reference model, 46 unit tests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119" name="TextBox 118"/>
          <p:cNvSpPr txBox="1"/>
          <p:nvPr/>
        </p:nvSpPr>
        <p:spPr>
          <a:xfrm>
            <a:off x="841248" y="4983480"/>
            <a:ext cx="10515600" cy="365760"/>
          </a:xfrm>
          <a:prstGeom prst="rect">
            <a:avLst/>
          </a:prstGeom>
          <a:noFill/>
        </p:spPr>
        <p:txBody>
          <a:bodyPr wrap="square">
            <a:spAutoFit/>
          </a:bodyPr>
          <a:lstStyle/>
          <a:p>
            <a:pPr algn="l"/>
            <a:r>
              <a:rPr sz="1200" b="0" i="1">
                <a:solidFill>
                  <a:srgbClr val="595959"/>
                </a:solidFill>
                <a:latin typeface="Calibri"/>
              </a:rPr>
              <a:t>Exact pins: requirements.txt, docker/spark/Dockerfile, docker-compose.yml (see the README).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Live Demo</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sp>
        <p:nvSpPr>
          <p:cNvPr id="118" name="Rectangle 117"/>
          <p:cNvSpPr/>
          <p:nvPr/>
        </p:nvSpPr>
        <p:spPr>
          <a:xfrm>
            <a:off x="841248" y="1280160"/>
            <a:ext cx="640080" cy="603504"/>
          </a:xfrm>
          <a:prstGeom prst="rect">
            <a:avLst/>
          </a:prstGeom>
          <a:solidFill>
            <a:srgbClr val="F2F2F2"/>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2000" b="1" i="0">
                <a:solidFill>
                  <a:srgbClr val="000000"/>
                </a:solidFill>
                <a:latin typeface="Calibri"/>
              </a:rPr>
              <a:t>1</a:t>
            </a:r>
          </a:p>
        </p:txBody>
      </p:sp>
      <p:sp>
        <p:nvSpPr>
          <p:cNvPr id="119" name="Rounded Rectangle 118"/>
          <p:cNvSpPr/>
          <p:nvPr/>
        </p:nvSpPr>
        <p:spPr>
          <a:xfrm>
            <a:off x="1709928" y="1280160"/>
            <a:ext cx="6583680" cy="603504"/>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800" b="0" i="0">
                <a:solidFill>
                  <a:srgbClr val="000000"/>
                </a:solidFill>
                <a:latin typeface="Calibri"/>
              </a:rPr>
              <a:t>Six services up in Docker</a:t>
            </a:r>
          </a:p>
        </p:txBody>
      </p:sp>
      <p:sp>
        <p:nvSpPr>
          <p:cNvPr id="120" name="Rectangle 119"/>
          <p:cNvSpPr/>
          <p:nvPr/>
        </p:nvSpPr>
        <p:spPr>
          <a:xfrm>
            <a:off x="841248" y="2103120"/>
            <a:ext cx="640080" cy="603504"/>
          </a:xfrm>
          <a:prstGeom prst="rect">
            <a:avLst/>
          </a:prstGeom>
          <a:solidFill>
            <a:srgbClr val="F2F2F2"/>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2000" b="1" i="0">
                <a:solidFill>
                  <a:srgbClr val="000000"/>
                </a:solidFill>
                <a:latin typeface="Calibri"/>
              </a:rPr>
              <a:t>2</a:t>
            </a:r>
          </a:p>
        </p:txBody>
      </p:sp>
      <p:sp>
        <p:nvSpPr>
          <p:cNvPr id="121" name="Rounded Rectangle 120"/>
          <p:cNvSpPr/>
          <p:nvPr/>
        </p:nvSpPr>
        <p:spPr>
          <a:xfrm>
            <a:off x="1709928" y="2103120"/>
            <a:ext cx="6583680" cy="603504"/>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800" b="0" i="0">
                <a:solidFill>
                  <a:srgbClr val="000000"/>
                </a:solidFill>
                <a:latin typeface="Calibri"/>
              </a:rPr>
              <a:t>Spark consumer: baseline + enhanced</a:t>
            </a:r>
          </a:p>
        </p:txBody>
      </p:sp>
      <p:sp>
        <p:nvSpPr>
          <p:cNvPr id="122" name="Rectangle 121"/>
          <p:cNvSpPr/>
          <p:nvPr/>
        </p:nvSpPr>
        <p:spPr>
          <a:xfrm>
            <a:off x="841248" y="2926080"/>
            <a:ext cx="640080" cy="603504"/>
          </a:xfrm>
          <a:prstGeom prst="rect">
            <a:avLst/>
          </a:prstGeom>
          <a:solidFill>
            <a:srgbClr val="F2F2F2"/>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2000" b="1" i="0">
                <a:solidFill>
                  <a:srgbClr val="000000"/>
                </a:solidFill>
                <a:latin typeface="Calibri"/>
              </a:rPr>
              <a:t>3</a:t>
            </a:r>
          </a:p>
        </p:txBody>
      </p:sp>
      <p:sp>
        <p:nvSpPr>
          <p:cNvPr id="123" name="Rounded Rectangle 122"/>
          <p:cNvSpPr/>
          <p:nvPr/>
        </p:nvSpPr>
        <p:spPr>
          <a:xfrm>
            <a:off x="1709928" y="2926080"/>
            <a:ext cx="6583680" cy="603504"/>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800" b="0" i="0">
                <a:solidFill>
                  <a:srgbClr val="000000"/>
                </a:solidFill>
                <a:latin typeface="Calibri"/>
              </a:rPr>
              <a:t>Producer replays the label-flip stream</a:t>
            </a:r>
          </a:p>
        </p:txBody>
      </p:sp>
      <p:sp>
        <p:nvSpPr>
          <p:cNvPr id="124" name="Rectangle 123"/>
          <p:cNvSpPr/>
          <p:nvPr/>
        </p:nvSpPr>
        <p:spPr>
          <a:xfrm>
            <a:off x="841248" y="3749039"/>
            <a:ext cx="640080" cy="603504"/>
          </a:xfrm>
          <a:prstGeom prst="rect">
            <a:avLst/>
          </a:prstGeom>
          <a:solidFill>
            <a:srgbClr val="F2F2F2"/>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2000" b="1" i="0">
                <a:solidFill>
                  <a:srgbClr val="000000"/>
                </a:solidFill>
                <a:latin typeface="Calibri"/>
              </a:rPr>
              <a:t>4</a:t>
            </a:r>
          </a:p>
        </p:txBody>
      </p:sp>
      <p:sp>
        <p:nvSpPr>
          <p:cNvPr id="125" name="Rounded Rectangle 124"/>
          <p:cNvSpPr/>
          <p:nvPr/>
        </p:nvSpPr>
        <p:spPr>
          <a:xfrm>
            <a:off x="1709928" y="3749039"/>
            <a:ext cx="6583680" cy="603504"/>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800" b="0" i="0">
                <a:solidFill>
                  <a:srgbClr val="000000"/>
                </a:solidFill>
                <a:latin typeface="Calibri"/>
              </a:rPr>
              <a:t>Grafana: the flip, ADWIN's alarm, recovery</a:t>
            </a:r>
          </a:p>
        </p:txBody>
      </p:sp>
      <p:sp>
        <p:nvSpPr>
          <p:cNvPr id="126" name="Rectangle 125"/>
          <p:cNvSpPr/>
          <p:nvPr/>
        </p:nvSpPr>
        <p:spPr>
          <a:xfrm>
            <a:off x="841248" y="4572000"/>
            <a:ext cx="640080" cy="603504"/>
          </a:xfrm>
          <a:prstGeom prst="rect">
            <a:avLst/>
          </a:prstGeom>
          <a:solidFill>
            <a:srgbClr val="F2F2F2"/>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2000" b="1" i="0">
                <a:solidFill>
                  <a:srgbClr val="000000"/>
                </a:solidFill>
                <a:latin typeface="Calibri"/>
              </a:rPr>
              <a:t>5</a:t>
            </a:r>
          </a:p>
        </p:txBody>
      </p:sp>
      <p:sp>
        <p:nvSpPr>
          <p:cNvPr id="127" name="Rounded Rectangle 126"/>
          <p:cNvSpPr/>
          <p:nvPr/>
        </p:nvSpPr>
        <p:spPr>
          <a:xfrm>
            <a:off x="1709928" y="4572000"/>
            <a:ext cx="6583680" cy="603504"/>
          </a:xfrm>
          <a:prstGeom prst="roundRect">
            <a:avLst>
              <a:gd name="adj" fmla="val 15000"/>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800" b="0" i="0">
                <a:solidFill>
                  <a:srgbClr val="000000"/>
                </a:solidFill>
                <a:latin typeface="Calibri"/>
              </a:rPr>
              <a:t>Offline runner: one command, full metrics</a:t>
            </a:r>
          </a:p>
        </p:txBody>
      </p:sp>
      <p:sp>
        <p:nvSpPr>
          <p:cNvPr id="128" name="TextBox 127"/>
          <p:cNvSpPr txBox="1"/>
          <p:nvPr/>
        </p:nvSpPr>
        <p:spPr>
          <a:xfrm>
            <a:off x="841248" y="5486400"/>
            <a:ext cx="10058400" cy="365760"/>
          </a:xfrm>
          <a:prstGeom prst="rect">
            <a:avLst/>
          </a:prstGeom>
          <a:noFill/>
        </p:spPr>
        <p:txBody>
          <a:bodyPr wrap="square">
            <a:spAutoFit/>
          </a:bodyPr>
          <a:lstStyle/>
          <a:p>
            <a:pPr algn="l"/>
            <a:r>
              <a:rPr sz="1200" b="0" i="1">
                <a:solidFill>
                  <a:srgbClr val="595959"/>
                </a:solidFill>
                <a:latin typeface="Calibri"/>
              </a:rPr>
              <a:t>Pipeline: Kafka → Spark Structured Streaming → InfluxDB → Grafana, on real tweets.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Results: Baseline Reproduction</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pic>
        <p:nvPicPr>
          <p:cNvPr id="118" name="Picture 117" descr="baseline_overall_accuracy.png"/>
          <p:cNvPicPr>
            <a:picLocks noChangeAspect="1"/>
          </p:cNvPicPr>
          <p:nvPr/>
        </p:nvPicPr>
        <p:blipFill>
          <a:blip r:embed="rId4"/>
          <a:stretch>
            <a:fillRect/>
          </a:stretch>
        </p:blipFill>
        <p:spPr>
          <a:xfrm>
            <a:off x="841248" y="1188720"/>
            <a:ext cx="6949440" cy="3300013"/>
          </a:xfrm>
          <a:prstGeom prst="rect">
            <a:avLst/>
          </a:prstGeom>
        </p:spPr>
      </p:pic>
      <p:sp>
        <p:nvSpPr>
          <p:cNvPr id="119" name="TextBox 118"/>
          <p:cNvSpPr txBox="1"/>
          <p:nvPr/>
        </p:nvSpPr>
        <p:spPr>
          <a:xfrm>
            <a:off x="8001000" y="1280160"/>
            <a:ext cx="3429000" cy="4206240"/>
          </a:xfrm>
          <a:prstGeom prst="rect">
            <a:avLst/>
          </a:prstGeom>
          <a:noFill/>
        </p:spPr>
        <p:txBody>
          <a:bodyPr wrap="square">
            <a:spAutoFit/>
          </a:bodyPr>
          <a:lstStyle/>
          <a:p>
            <a:pPr marL="342900" indent="-274320">
              <a:buChar char="•"/>
            </a:pPr>
            <a:r>
              <a:rPr sz="1600" b="0" i="0">
                <a:solidFill>
                  <a:srgbClr val="000000"/>
                </a:solidFill>
                <a:latin typeface="Calibri"/>
              </a:rPr>
              <a:t>Same ordering as the paper on both streams</a:t>
            </a:r>
          </a:p>
          <a:p>
            <a:pPr marL="342900" indent="-274320">
              <a:spcBef>
                <a:spcPts val="900"/>
              </a:spcBef>
              <a:buChar char="•"/>
            </a:pPr>
            <a:r>
              <a:rPr sz="1600" b="0" i="0">
                <a:solidFill>
                  <a:srgbClr val="000000"/>
                </a:solidFill>
                <a:latin typeface="Calibri"/>
              </a:rPr>
              <a:t>Never forgetting is worst: 78.3 % / 80.3 %</a:t>
            </a:r>
          </a:p>
          <a:p>
            <a:pPr marL="342900" indent="-274320">
              <a:spcBef>
                <a:spcPts val="900"/>
              </a:spcBef>
              <a:buChar char="•"/>
            </a:pPr>
            <a:r>
              <a:rPr sz="1600" b="0" i="0">
                <a:solidFill>
                  <a:srgbClr val="000000"/>
                </a:solidFill>
                <a:latin typeface="Calibri"/>
              </a:rPr>
              <a:t>Informed adaptation best: up to 81.4 % / 83.0 %</a:t>
            </a:r>
          </a:p>
          <a:p>
            <a:pPr marL="342900" indent="-274320">
              <a:spcBef>
                <a:spcPts val="900"/>
              </a:spcBef>
              <a:buChar char="•"/>
            </a:pPr>
            <a:r>
              <a:rPr sz="1600" b="0" i="0">
                <a:solidFill>
                  <a:srgbClr val="000000"/>
                </a:solidFill>
                <a:latin typeface="Calibri"/>
              </a:rPr>
              <a:t>After DS1's change point: 93–99.9 % vs 77 %</a:t>
            </a:r>
          </a:p>
          <a:p>
            <a:pPr marL="342900" indent="-274320">
              <a:spcBef>
                <a:spcPts val="900"/>
              </a:spcBef>
              <a:buChar char="•"/>
            </a:pPr>
            <a:r>
              <a:rPr sz="1600" b="0" i="0">
                <a:solidFill>
                  <a:srgbClr val="000000"/>
                </a:solidFill>
                <a:latin typeface="Calibri"/>
              </a:rPr>
              <a:t>Difference: forgetting only on alarms (Zero) beats constant forgetting (Init)</a:t>
            </a:r>
          </a:p>
        </p:txBody>
      </p:sp>
      <p:sp>
        <p:nvSpPr>
          <p:cNvPr id="120" name="TextBox 119"/>
          <p:cNvSpPr txBox="1"/>
          <p:nvPr/>
        </p:nvSpPr>
        <p:spPr>
          <a:xfrm>
            <a:off x="841248" y="4572000"/>
            <a:ext cx="6949440" cy="365760"/>
          </a:xfrm>
          <a:prstGeom prst="rect">
            <a:avLst/>
          </a:prstGeom>
          <a:noFill/>
        </p:spPr>
        <p:txBody>
          <a:bodyPr wrap="square">
            <a:spAutoFit/>
          </a:bodyPr>
          <a:lstStyle/>
          <a:p>
            <a:pPr algn="l"/>
            <a:r>
              <a:rPr sz="1200" b="0" i="1">
                <a:solidFill>
                  <a:srgbClr val="595959"/>
                </a:solidFill>
                <a:latin typeface="Calibri"/>
              </a:rPr>
              <a:t>Overall accuracy of all baseline strategies (Table 1 parameters of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Results: The Label Flip</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pic>
        <p:nvPicPr>
          <p:cNvPr id="118" name="Picture 117" descr="fig2_label_flip_seeds.png"/>
          <p:cNvPicPr>
            <a:picLocks noChangeAspect="1"/>
          </p:cNvPicPr>
          <p:nvPr/>
        </p:nvPicPr>
        <p:blipFill>
          <a:blip r:embed="rId4"/>
          <a:stretch>
            <a:fillRect/>
          </a:stretch>
        </p:blipFill>
        <p:spPr>
          <a:xfrm>
            <a:off x="841248" y="1143000"/>
            <a:ext cx="10515600" cy="3818514"/>
          </a:xfrm>
          <a:prstGeom prst="rect">
            <a:avLst/>
          </a:prstGeom>
        </p:spPr>
      </p:pic>
      <p:graphicFrame>
        <p:nvGraphicFramePr>
          <p:cNvPr id="119" name="Table 118"/>
          <p:cNvGraphicFramePr>
            <a:graphicFrameLocks noGrp="1"/>
          </p:cNvGraphicFramePr>
          <p:nvPr/>
        </p:nvGraphicFramePr>
        <p:xfrm>
          <a:off x="841248" y="4892040"/>
          <a:ext cx="10515599" cy="987552"/>
        </p:xfrm>
        <a:graphic>
          <a:graphicData uri="http://schemas.openxmlformats.org/drawingml/2006/table">
            <a:tbl>
              <a:tblPr/>
              <a:tblGrid>
                <a:gridCol w="2921000"/>
                <a:gridCol w="2531533"/>
                <a:gridCol w="2531533"/>
                <a:gridCol w="2531533"/>
              </a:tblGrid>
              <a:tr h="329184">
                <a:tc>
                  <a:txBody>
                    <a:bodyPr wrap="square"/>
                    <a:lstStyle/>
                    <a:p>
                      <a:pPr algn="ctr"/>
                      <a:r>
                        <a:rPr sz="1500" b="1" i="0">
                          <a:solidFill>
                            <a:srgbClr val="000000"/>
                          </a:solidFill>
                          <a:latin typeface="Calibri"/>
                        </a:rPr>
                        <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wrap="square"/>
                    <a:lstStyle/>
                    <a:p>
                      <a:pPr algn="ctr"/>
                      <a:r>
                        <a:rPr sz="1500" b="1" i="0">
                          <a:solidFill>
                            <a:srgbClr val="000000"/>
                          </a:solidFill>
                          <a:latin typeface="Calibri"/>
                        </a:rPr>
                        <a:t>Detection delay</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wrap="square"/>
                    <a:lstStyle/>
                    <a:p>
                      <a:pPr algn="ctr"/>
                      <a:r>
                        <a:rPr sz="1500" b="1" i="0">
                          <a:solidFill>
                            <a:srgbClr val="000000"/>
                          </a:solidFill>
                          <a:latin typeface="Calibri"/>
                        </a:rPr>
                        <a:t>Recovery to 95 %</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wrap="square"/>
                    <a:lstStyle/>
                    <a:p>
                      <a:pPr algn="ctr"/>
                      <a:r>
                        <a:rPr sz="1500" b="1" i="0">
                          <a:solidFill>
                            <a:srgbClr val="000000"/>
                          </a:solidFill>
                          <a:latin typeface="Calibri"/>
                        </a:rPr>
                        <a:t>Accuracy (5 seeds)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r>
              <a:tr h="329184">
                <a:tc>
                  <a:txBody>
                    <a:bodyPr wrap="square"/>
                    <a:lstStyle/>
                    <a:p>
                      <a:pPr algn="l"/>
                      <a:r>
                        <a:rPr sz="1500" b="1" i="0">
                          <a:solidFill>
                            <a:srgbClr val="000000"/>
                          </a:solidFill>
                          <a:latin typeface="Calibri"/>
                        </a:rPr>
                        <a:t>Baseline (word detector)</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3,999 tweets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8,204 tweets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71.0 ± 1.0 %</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329184">
                <a:tc>
                  <a:txBody>
                    <a:bodyPr wrap="square"/>
                    <a:lstStyle/>
                    <a:p>
                      <a:pPr algn="l"/>
                      <a:r>
                        <a:rPr sz="1500" b="1" i="0">
                          <a:solidFill>
                            <a:srgbClr val="000000"/>
                          </a:solidFill>
                          <a:latin typeface="Calibri"/>
                        </a:rPr>
                        <a:t>Enhanced (OR)</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39 tweets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3,183 tweets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73.8 ± 0.3 %</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Results: All Streams and Real Data</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graphicFrame>
        <p:nvGraphicFramePr>
          <p:cNvPr id="118" name="Table 117"/>
          <p:cNvGraphicFramePr>
            <a:graphicFrameLocks noGrp="1"/>
          </p:cNvGraphicFramePr>
          <p:nvPr/>
        </p:nvGraphicFramePr>
        <p:xfrm>
          <a:off x="841248" y="1188720"/>
          <a:ext cx="6400799" cy="3657600"/>
        </p:xfrm>
        <a:graphic>
          <a:graphicData uri="http://schemas.openxmlformats.org/drawingml/2006/table">
            <a:tbl>
              <a:tblPr/>
              <a:tblGrid>
                <a:gridCol w="3154017"/>
                <a:gridCol w="1484243"/>
                <a:gridCol w="1762539"/>
              </a:tblGrid>
              <a:tr h="457200">
                <a:tc>
                  <a:txBody>
                    <a:bodyPr wrap="square"/>
                    <a:lstStyle/>
                    <a:p>
                      <a:pPr algn="ctr"/>
                      <a:r>
                        <a:rPr sz="1500" b="1" i="0">
                          <a:solidFill>
                            <a:srgbClr val="000000"/>
                          </a:solidFill>
                          <a:latin typeface="Calibri"/>
                        </a:rPr>
                        <a:t>Metric</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wrap="square"/>
                    <a:lstStyle/>
                    <a:p>
                      <a:pPr algn="ctr"/>
                      <a:r>
                        <a:rPr sz="1500" b="1" i="0">
                          <a:solidFill>
                            <a:srgbClr val="000000"/>
                          </a:solidFill>
                          <a:latin typeface="Calibri"/>
                        </a:rPr>
                        <a:t>Baseline</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wrap="square"/>
                    <a:lstStyle/>
                    <a:p>
                      <a:pPr algn="ctr"/>
                      <a:r>
                        <a:rPr sz="1500" b="1" i="0">
                          <a:solidFill>
                            <a:srgbClr val="000000"/>
                          </a:solidFill>
                          <a:latin typeface="Calibri"/>
                        </a:rPr>
                        <a:t>Enhanced</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r>
              <a:tr h="457200">
                <a:tc>
                  <a:txBody>
                    <a:bodyPr wrap="square"/>
                    <a:lstStyle/>
                    <a:p>
                      <a:pPr algn="l"/>
                      <a:r>
                        <a:rPr sz="1500" b="1" i="0">
                          <a:solidFill>
                            <a:srgbClr val="000000"/>
                          </a:solidFill>
                          <a:latin typeface="Calibri"/>
                        </a:rPr>
                        <a:t>Topic-only flip: drifts detected</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3 / 5</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5 / 5</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DS1 accuracy</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80.8 %</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81.3–81.7 %</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DS1 change point: delay</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19,224</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704</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DS2 accuracy</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83.0 %</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83.7–84.1 %</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Drifts detected (all 47)</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36</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39</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False alarms (all runs)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70</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102</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57200">
                <a:tc>
                  <a:txBody>
                    <a:bodyPr wrap="square"/>
                    <a:lstStyle/>
                    <a:p>
                      <a:pPr algn="l"/>
                      <a:r>
                        <a:rPr sz="1500" b="1" i="0">
                          <a:solidFill>
                            <a:srgbClr val="000000"/>
                          </a:solidFill>
                          <a:latin typeface="Calibri"/>
                        </a:rPr>
                        <a:t>≥ baseline accuracy</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ctr"/>
                      <a:r>
                        <a:rPr sz="1500" b="0" i="0">
                          <a:solidFill>
                            <a:srgbClr val="000000"/>
                          </a:solidFill>
                          <a:latin typeface="Calibri"/>
                        </a:rPr>
                        <a:t>28 of 32 runs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119" name="TextBox 118"/>
          <p:cNvSpPr txBox="1"/>
          <p:nvPr/>
        </p:nvSpPr>
        <p:spPr>
          <a:xfrm>
            <a:off x="7635240" y="1234440"/>
            <a:ext cx="3749039" cy="4389120"/>
          </a:xfrm>
          <a:prstGeom prst="rect">
            <a:avLst/>
          </a:prstGeom>
          <a:noFill/>
        </p:spPr>
        <p:txBody>
          <a:bodyPr wrap="square">
            <a:spAutoFit/>
          </a:bodyPr>
          <a:lstStyle/>
          <a:p>
            <a:pPr marL="342900" indent="-274320">
              <a:buChar char="•"/>
            </a:pPr>
            <a:r>
              <a:rPr sz="1600" b="0" i="0">
                <a:solidFill>
                  <a:srgbClr val="000000"/>
                </a:solidFill>
                <a:latin typeface="Calibri"/>
              </a:rPr>
              <a:t>ADWIN catches meaning drift; the word detector catches topic and prior shifts</a:t>
            </a:r>
          </a:p>
          <a:p>
            <a:pPr marL="342900" indent="-274320">
              <a:spcBef>
                <a:spcPts val="1000"/>
              </a:spcBef>
              <a:buChar char="•"/>
            </a:pPr>
            <a:r>
              <a:rPr sz="1600" b="0" i="0">
                <a:solidFill>
                  <a:srgbClr val="000000"/>
                </a:solidFill>
                <a:latin typeface="Calibri"/>
              </a:rPr>
              <a:t>OR keeps both: never more than 0.04 points below the baseline</a:t>
            </a:r>
          </a:p>
          <a:p>
            <a:pPr marL="342900" indent="-274320">
              <a:spcBef>
                <a:spcPts val="1000"/>
              </a:spcBef>
              <a:buChar char="•"/>
            </a:pPr>
            <a:r>
              <a:rPr sz="1600" b="0" i="0">
                <a:solidFill>
                  <a:srgbClr val="000000"/>
                </a:solidFill>
                <a:latin typeface="Calibri"/>
              </a:rPr>
              <a:t>Extra false alarms come mostly from the word detector; a rebuild makes them cheap</a:t>
            </a:r>
          </a:p>
          <a:p>
            <a:pPr marL="342900" indent="-274320">
              <a:spcBef>
                <a:spcPts val="1000"/>
              </a:spcBef>
              <a:buChar char="•"/>
            </a:pPr>
            <a:r>
              <a:rPr sz="1600" b="0" i="0">
                <a:solidFill>
                  <a:srgbClr val="000000"/>
                </a:solidFill>
                <a:latin typeface="Calibri"/>
              </a:rPr>
              <a:t>Topic and prior shifts barely change accuracy for any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Performance</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graphicFrame>
        <p:nvGraphicFramePr>
          <p:cNvPr id="118" name="Table 117"/>
          <p:cNvGraphicFramePr>
            <a:graphicFrameLocks noGrp="1"/>
          </p:cNvGraphicFramePr>
          <p:nvPr/>
        </p:nvGraphicFramePr>
        <p:xfrm>
          <a:off x="841248" y="1280160"/>
          <a:ext cx="5852160" cy="3511296"/>
        </p:xfrm>
        <a:graphic>
          <a:graphicData uri="http://schemas.openxmlformats.org/drawingml/2006/table">
            <a:tbl>
              <a:tblPr/>
              <a:tblGrid>
                <a:gridCol w="3017520"/>
                <a:gridCol w="2834640"/>
              </a:tblGrid>
              <a:tr h="438912">
                <a:tc>
                  <a:txBody>
                    <a:bodyPr wrap="square"/>
                    <a:lstStyle/>
                    <a:p>
                      <a:pPr algn="ctr"/>
                      <a:r>
                        <a:rPr sz="1500" b="1" i="0">
                          <a:solidFill>
                            <a:srgbClr val="000000"/>
                          </a:solidFill>
                          <a:latin typeface="Calibri"/>
                        </a:rPr>
                        <a:t>Metric</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wrap="square"/>
                    <a:lstStyle/>
                    <a:p>
                      <a:pPr algn="ctr"/>
                      <a:r>
                        <a:rPr sz="1500" b="1" i="0">
                          <a:solidFill>
                            <a:srgbClr val="000000"/>
                          </a:solidFill>
                          <a:latin typeface="Calibri"/>
                        </a:rPr>
                        <a:t>Result</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r>
              <a:tr h="438912">
                <a:tc>
                  <a:txBody>
                    <a:bodyPr wrap="square"/>
                    <a:lstStyle/>
                    <a:p>
                      <a:pPr algn="l"/>
                      <a:r>
                        <a:rPr sz="1500" b="0" i="0">
                          <a:solidFill>
                            <a:srgbClr val="000000"/>
                          </a:solidFill>
                          <a:latin typeface="Calibri"/>
                        </a:rPr>
                        <a:t>Throughput, 1k-tweet batches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2,000 tweets/s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38912">
                <a:tc>
                  <a:txBody>
                    <a:bodyPr wrap="square"/>
                    <a:lstStyle/>
                    <a:p>
                      <a:pPr algn="l"/>
                      <a:r>
                        <a:rPr sz="1500" b="0" i="0">
                          <a:solidFill>
                            <a:srgbClr val="000000"/>
                          </a:solidFill>
                          <a:latin typeface="Calibri"/>
                        </a:rPr>
                        <a:t>Latency at 2,000 tweets/s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0.42 s median, 0.76 s p95</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38912">
                <a:tc>
                  <a:txBody>
                    <a:bodyPr wrap="square"/>
                    <a:lstStyle/>
                    <a:p>
                      <a:pPr algn="l"/>
                      <a:r>
                        <a:rPr sz="1500" b="0" i="0">
                          <a:solidFill>
                            <a:srgbClr val="000000"/>
                          </a:solidFill>
                          <a:latin typeface="Calibri"/>
                        </a:rPr>
                        <a:t>Throughput, 5k-tweet batches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5,593 tweets/s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38912">
                <a:tc>
                  <a:txBody>
                    <a:bodyPr wrap="square"/>
                    <a:lstStyle/>
                    <a:p>
                      <a:pPr algn="l"/>
                      <a:r>
                        <a:rPr sz="1500" b="0" i="0">
                          <a:solidFill>
                            <a:srgbClr val="000000"/>
                          </a:solidFill>
                          <a:latin typeface="Calibri"/>
                        </a:rPr>
                        <a:t>Model time per 1k tweets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22.6 ms → 32.9 ms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38912">
                <a:tc>
                  <a:txBody>
                    <a:bodyPr wrap="square"/>
                    <a:lstStyle/>
                    <a:p>
                      <a:pPr algn="l"/>
                      <a:r>
                        <a:rPr sz="1500" b="0" i="0">
                          <a:solidFill>
                            <a:srgbClr val="000000"/>
                          </a:solidFill>
                          <a:latin typeface="Calibri"/>
                        </a:rPr>
                        <a:t>ADWIN update</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&lt; 1 µs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38912">
                <a:tc>
                  <a:txBody>
                    <a:bodyPr wrap="square"/>
                    <a:lstStyle/>
                    <a:p>
                      <a:pPr algn="l"/>
                      <a:r>
                        <a:rPr sz="1500" b="0" i="0">
                          <a:solidFill>
                            <a:srgbClr val="000000"/>
                          </a:solidFill>
                          <a:latin typeface="Calibri"/>
                        </a:rPr>
                        <a:t>Offline runner</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37–46k tweets/s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r h="438912">
                <a:tc>
                  <a:txBody>
                    <a:bodyPr wrap="square"/>
                    <a:lstStyle/>
                    <a:p>
                      <a:pPr algn="l"/>
                      <a:r>
                        <a:rPr sz="1500" b="0" i="0">
                          <a:solidFill>
                            <a:srgbClr val="000000"/>
                          </a:solidFill>
                          <a:latin typeface="Calibri"/>
                        </a:rPr>
                        <a:t>Unit tests</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c>
                  <a:txBody>
                    <a:bodyPr wrap="square"/>
                    <a:lstStyle/>
                    <a:p>
                      <a:pPr algn="l"/>
                      <a:r>
                        <a:rPr sz="1500" b="0" i="0">
                          <a:solidFill>
                            <a:srgbClr val="000000"/>
                          </a:solidFill>
                          <a:latin typeface="Calibri"/>
                        </a:rPr>
                        <a:t>46 passing</a:t>
                      </a:r>
                    </a:p>
                  </a:txBody>
                  <a:tcPr marL="73152" marR="73152" marT="36576" marB="36576" anchor="ctr">
                    <a:lnL w="9525">
                      <a:solidFill>
                        <a:srgbClr val="000000"/>
                      </a:solidFill>
                    </a:lnL>
                    <a:lnR w="9525">
                      <a:solidFill>
                        <a:srgbClr val="000000"/>
                      </a:solidFill>
                    </a:lnR>
                    <a:lnT w="9525">
                      <a:solidFill>
                        <a:srgbClr val="000000"/>
                      </a:solidFill>
                    </a:lnT>
                    <a:lnB w="9525">
                      <a:solidFill>
                        <a:srgbClr val="000000"/>
                      </a:solidFill>
                    </a:lnB>
                    <a:solidFill>
                      <a:srgbClr val="FFFFFF"/>
                    </a:solidFill>
                  </a:tcPr>
                </a:tc>
              </a:tr>
            </a:tbl>
          </a:graphicData>
        </a:graphic>
      </p:graphicFrame>
      <p:sp>
        <p:nvSpPr>
          <p:cNvPr id="119" name="TextBox 118"/>
          <p:cNvSpPr txBox="1"/>
          <p:nvPr/>
        </p:nvSpPr>
        <p:spPr>
          <a:xfrm>
            <a:off x="7086600" y="1325880"/>
            <a:ext cx="4297680" cy="4114800"/>
          </a:xfrm>
          <a:prstGeom prst="rect">
            <a:avLst/>
          </a:prstGeom>
          <a:noFill/>
        </p:spPr>
        <p:txBody>
          <a:bodyPr wrap="square">
            <a:spAutoFit/>
          </a:bodyPr>
          <a:lstStyle/>
          <a:p>
            <a:pPr marL="342900" indent="-274320">
              <a:buChar char="•"/>
            </a:pPr>
            <a:r>
              <a:rPr sz="1700" b="0" i="0">
                <a:solidFill>
                  <a:srgbClr val="000000"/>
                </a:solidFill>
                <a:latin typeface="Calibri"/>
              </a:rPr>
              <a:t>Live accuracy = offline accuracy (72 % vs 74 % on the label flip)</a:t>
            </a:r>
          </a:p>
          <a:p>
            <a:pPr marL="342900" indent="-274320">
              <a:spcBef>
                <a:spcPts val="1000"/>
              </a:spcBef>
              <a:buChar char="•"/>
            </a:pPr>
            <a:r>
              <a:rPr sz="1700" b="0" i="0">
                <a:solidFill>
                  <a:srgbClr val="000000"/>
                </a:solidFill>
                <a:latin typeface="Calibri"/>
              </a:rPr>
              <a:t>The bottleneck is Spark's ~170 ms per micro-batch, not the models</a:t>
            </a:r>
          </a:p>
          <a:p>
            <a:pPr marL="342900" indent="-274320">
              <a:spcBef>
                <a:spcPts val="1000"/>
              </a:spcBef>
              <a:buChar char="•"/>
            </a:pPr>
            <a:r>
              <a:rPr sz="1700" b="0" i="0">
                <a:solidFill>
                  <a:srgbClr val="000000"/>
                </a:solidFill>
                <a:latin typeface="Calibri"/>
              </a:rPr>
              <a:t>ADWIN adds ~10 ms per 1,000 tweets</a:t>
            </a:r>
          </a:p>
          <a:p>
            <a:pPr marL="342900" indent="-274320">
              <a:spcBef>
                <a:spcPts val="1000"/>
              </a:spcBef>
              <a:buChar char="•"/>
            </a:pPr>
            <a:r>
              <a:rPr sz="1700" b="0" i="0">
                <a:solidFill>
                  <a:srgbClr val="000000"/>
                </a:solidFill>
                <a:latin typeface="Calibri"/>
              </a:rPr>
              <a:t>Spark driver memory: 200–330 MB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Limitations and Future Work</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sp>
        <p:nvSpPr>
          <p:cNvPr id="118" name="TextBox 117"/>
          <p:cNvSpPr txBox="1"/>
          <p:nvPr/>
        </p:nvSpPr>
        <p:spPr>
          <a:xfrm>
            <a:off x="841248" y="1188720"/>
            <a:ext cx="5120640" cy="457200"/>
          </a:xfrm>
          <a:prstGeom prst="rect">
            <a:avLst/>
          </a:prstGeom>
          <a:noFill/>
        </p:spPr>
        <p:txBody>
          <a:bodyPr wrap="square">
            <a:spAutoFit/>
          </a:bodyPr>
          <a:lstStyle/>
          <a:p>
            <a:pPr algn="l"/>
            <a:r>
              <a:rPr sz="2000" b="1" i="0">
                <a:solidFill>
                  <a:srgbClr val="000000"/>
                </a:solidFill>
                <a:latin typeface="Calibri"/>
              </a:rPr>
              <a:t>Limitations</a:t>
            </a:r>
          </a:p>
        </p:txBody>
      </p:sp>
      <p:sp>
        <p:nvSpPr>
          <p:cNvPr id="119" name="TextBox 118"/>
          <p:cNvSpPr txBox="1"/>
          <p:nvPr/>
        </p:nvSpPr>
        <p:spPr>
          <a:xfrm>
            <a:off x="841248" y="1691640"/>
            <a:ext cx="5120640" cy="4023360"/>
          </a:xfrm>
          <a:prstGeom prst="rect">
            <a:avLst/>
          </a:prstGeom>
          <a:noFill/>
        </p:spPr>
        <p:txBody>
          <a:bodyPr wrap="square">
            <a:spAutoFit/>
          </a:bodyPr>
          <a:lstStyle/>
          <a:p>
            <a:pPr marL="342900" indent="-274320">
              <a:buChar char="•"/>
            </a:pPr>
            <a:r>
              <a:rPr sz="1700" b="0" i="0">
                <a:solidFill>
                  <a:srgbClr val="000000"/>
                </a:solidFill>
                <a:latin typeface="Calibri"/>
              </a:rPr>
              <a:t>Labels come from emoticons and are noisy</a:t>
            </a:r>
          </a:p>
          <a:p>
            <a:pPr marL="342900" indent="-274320">
              <a:spcBef>
                <a:spcPts val="900"/>
              </a:spcBef>
              <a:buChar char="•"/>
            </a:pPr>
            <a:r>
              <a:rPr sz="1700" b="0" i="0">
                <a:solidFill>
                  <a:srgbClr val="000000"/>
                </a:solidFill>
                <a:latin typeface="Calibri"/>
              </a:rPr>
              <a:t>Controlled drifts are synthetic; topics defined by keywords</a:t>
            </a:r>
          </a:p>
          <a:p>
            <a:pPr marL="342900" indent="-274320">
              <a:spcBef>
                <a:spcPts val="900"/>
              </a:spcBef>
              <a:buChar char="•"/>
            </a:pPr>
            <a:r>
              <a:rPr sz="1700" b="0" i="0">
                <a:solidFill>
                  <a:srgbClr val="000000"/>
                </a:solidFill>
                <a:latin typeface="Calibri"/>
              </a:rPr>
              <a:t>Real streams list only designed drift points: false alarms are upper bounds</a:t>
            </a:r>
          </a:p>
          <a:p>
            <a:pPr marL="342900" indent="-274320">
              <a:spcBef>
                <a:spcPts val="900"/>
              </a:spcBef>
              <a:buChar char="•"/>
            </a:pPr>
            <a:r>
              <a:rPr sz="1700" b="0" i="0">
                <a:solidFill>
                  <a:srgbClr val="000000"/>
                </a:solidFill>
                <a:latin typeface="Calibri"/>
              </a:rPr>
              <a:t>Model state lives on the Spark driver</a:t>
            </a:r>
          </a:p>
          <a:p>
            <a:pPr marL="342900" indent="-274320">
              <a:spcBef>
                <a:spcPts val="900"/>
              </a:spcBef>
              <a:buChar char="•"/>
            </a:pPr>
            <a:r>
              <a:rPr sz="1700" b="0" i="0">
                <a:solidFill>
                  <a:srgbClr val="000000"/>
                </a:solidFill>
                <a:latin typeface="Calibri"/>
              </a:rPr>
              <a:t>Naive Bayes cannot learn a topic-only flip (~64 % ceiling)</a:t>
            </a:r>
          </a:p>
        </p:txBody>
      </p:sp>
      <p:sp>
        <p:nvSpPr>
          <p:cNvPr id="120" name="TextBox 119"/>
          <p:cNvSpPr txBox="1"/>
          <p:nvPr/>
        </p:nvSpPr>
        <p:spPr>
          <a:xfrm>
            <a:off x="6263640" y="1188720"/>
            <a:ext cx="5120640" cy="457200"/>
          </a:xfrm>
          <a:prstGeom prst="rect">
            <a:avLst/>
          </a:prstGeom>
          <a:noFill/>
        </p:spPr>
        <p:txBody>
          <a:bodyPr wrap="square">
            <a:spAutoFit/>
          </a:bodyPr>
          <a:lstStyle/>
          <a:p>
            <a:pPr algn="l"/>
            <a:r>
              <a:rPr sz="2000" b="1" i="0">
                <a:solidFill>
                  <a:srgbClr val="000000"/>
                </a:solidFill>
                <a:latin typeface="Calibri"/>
              </a:rPr>
              <a:t>Future work</a:t>
            </a:r>
          </a:p>
        </p:txBody>
      </p:sp>
      <p:sp>
        <p:nvSpPr>
          <p:cNvPr id="121" name="TextBox 120"/>
          <p:cNvSpPr txBox="1"/>
          <p:nvPr/>
        </p:nvSpPr>
        <p:spPr>
          <a:xfrm>
            <a:off x="6263640" y="1691640"/>
            <a:ext cx="5120640" cy="4023360"/>
          </a:xfrm>
          <a:prstGeom prst="rect">
            <a:avLst/>
          </a:prstGeom>
          <a:noFill/>
        </p:spPr>
        <p:txBody>
          <a:bodyPr wrap="square">
            <a:spAutoFit/>
          </a:bodyPr>
          <a:lstStyle/>
          <a:p>
            <a:pPr marL="342900" indent="-274320">
              <a:buChar char="•"/>
            </a:pPr>
            <a:r>
              <a:rPr sz="1700" b="0" i="0">
                <a:solidFill>
                  <a:srgbClr val="000000"/>
                </a:solidFill>
                <a:latin typeface="Calibri"/>
              </a:rPr>
              <a:t>A context-aware classifier for topic-specific meaning changes</a:t>
            </a:r>
          </a:p>
          <a:p>
            <a:pPr marL="342900" indent="-274320">
              <a:spcBef>
                <a:spcPts val="900"/>
              </a:spcBef>
              <a:buChar char="•"/>
            </a:pPr>
            <a:r>
              <a:rPr sz="1700" b="0" i="0">
                <a:solidFill>
                  <a:srgbClr val="000000"/>
                </a:solidFill>
                <a:latin typeface="Calibri"/>
              </a:rPr>
              <a:t>Drift-specific reactions, e.g. re-weight the class prior on a prior shift</a:t>
            </a:r>
          </a:p>
          <a:p>
            <a:pPr marL="342900" indent="-274320">
              <a:spcBef>
                <a:spcPts val="900"/>
              </a:spcBef>
              <a:buChar char="•"/>
            </a:pPr>
            <a:r>
              <a:rPr sz="1700" b="0" i="0">
                <a:solidFill>
                  <a:srgbClr val="000000"/>
                </a:solidFill>
                <a:latin typeface="Calibri"/>
              </a:rPr>
              <a:t>Keyed state so Spark can partition the model</a:t>
            </a:r>
          </a:p>
          <a:p>
            <a:pPr marL="342900" indent="-274320">
              <a:spcBef>
                <a:spcPts val="900"/>
              </a:spcBef>
              <a:buChar char="•"/>
            </a:pPr>
            <a:r>
              <a:rPr sz="1700" b="0" i="0">
                <a:solidFill>
                  <a:srgbClr val="000000"/>
                </a:solidFill>
                <a:latin typeface="Calibri"/>
              </a:rPr>
              <a:t>Recent, event-driven Twitter / X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Conclusion</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sp>
        <p:nvSpPr>
          <p:cNvPr id="118" name="TextBox 117"/>
          <p:cNvSpPr txBox="1"/>
          <p:nvPr/>
        </p:nvSpPr>
        <p:spPr>
          <a:xfrm>
            <a:off x="841248" y="1280160"/>
            <a:ext cx="10515600" cy="4206240"/>
          </a:xfrm>
          <a:prstGeom prst="rect">
            <a:avLst/>
          </a:prstGeom>
          <a:noFill/>
        </p:spPr>
        <p:txBody>
          <a:bodyPr wrap="square">
            <a:spAutoFit/>
          </a:bodyPr>
          <a:lstStyle/>
          <a:p>
            <a:pPr marL="342900" indent="-274320">
              <a:buChar char="•"/>
            </a:pPr>
            <a:r>
              <a:rPr sz="2000" b="0" i="0">
                <a:solidFill>
                  <a:srgbClr val="000000"/>
                </a:solidFill>
                <a:latin typeface="Calibri"/>
              </a:rPr>
              <a:t>Reproduced the paper's informed ageing naive Bayes on Sentiment140</a:t>
            </a:r>
          </a:p>
          <a:p>
            <a:pPr marL="342900" indent="-274320">
              <a:spcBef>
                <a:spcPts val="1200"/>
              </a:spcBef>
              <a:buChar char="•"/>
            </a:pPr>
            <a:r>
              <a:rPr sz="2000" b="0" i="0">
                <a:solidFill>
                  <a:srgbClr val="000000"/>
                </a:solidFill>
                <a:latin typeface="Calibri"/>
              </a:rPr>
              <a:t>Its word-based detector misses or delays drift that changes meaning</a:t>
            </a:r>
          </a:p>
          <a:p>
            <a:pPr marL="342900" indent="-274320">
              <a:spcBef>
                <a:spcPts val="1200"/>
              </a:spcBef>
              <a:buChar char="•"/>
            </a:pPr>
            <a:r>
              <a:rPr sz="2000" b="0" i="0">
                <a:solidFill>
                  <a:srgbClr val="000000"/>
                </a:solidFill>
                <a:latin typeface="Calibri"/>
              </a:rPr>
              <a:t>ADWIN on the errors detects it ~100× sooner and recovers 2.6× faster</a:t>
            </a:r>
          </a:p>
          <a:p>
            <a:pPr marL="342900" indent="-274320">
              <a:spcBef>
                <a:spcPts val="1200"/>
              </a:spcBef>
              <a:buChar char="•"/>
            </a:pPr>
            <a:r>
              <a:rPr sz="2000" b="0" i="0">
                <a:solidFill>
                  <a:srgbClr val="000000"/>
                </a:solidFill>
                <a:latin typeface="Calibri"/>
              </a:rPr>
              <a:t>Accuracy improves on both real streams, at ~10 ms per 1,000 tweets</a:t>
            </a:r>
          </a:p>
          <a:p>
            <a:pPr marL="342900" indent="-274320">
              <a:spcBef>
                <a:spcPts val="1200"/>
              </a:spcBef>
              <a:buChar char="•"/>
            </a:pPr>
            <a:r>
              <a:rPr sz="2000" b="0" i="0">
                <a:solidFill>
                  <a:srgbClr val="000000"/>
                </a:solidFill>
                <a:latin typeface="Calibri"/>
              </a:rPr>
              <a:t>Runs end to end on Kafka, Spark Structured Streaming, InfluxDB and Grafana</a:t>
            </a:r>
          </a:p>
          <a:p>
            <a:pPr marL="342900" indent="-274320">
              <a:spcBef>
                <a:spcPts val="1200"/>
              </a:spcBef>
              <a:buChar char="•"/>
            </a:pPr>
            <a:r>
              <a:rPr sz="2000" b="1" i="0">
                <a:solidFill>
                  <a:srgbClr val="000000"/>
                </a:solidFill>
                <a:latin typeface="Calibri"/>
              </a:rPr>
              <a:t>Watch the errors, not only the words.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595360" cy="822960"/>
          </a:xfrm>
        </p:spPr>
        <p:txBody>
          <a:bodyPr/>
          <a:lstStyle/>
          <a:p>
            <a:r>
              <a:rPr sz="3600"/>
              <a:t>References</a:t>
            </a: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sp>
        <p:nvSpPr>
          <p:cNvPr id="118" name="TextBox 117"/>
          <p:cNvSpPr txBox="1"/>
          <p:nvPr/>
        </p:nvSpPr>
        <p:spPr>
          <a:xfrm>
            <a:off x="841248" y="1188720"/>
            <a:ext cx="10515600" cy="4572000"/>
          </a:xfrm>
          <a:prstGeom prst="rect">
            <a:avLst/>
          </a:prstGeom>
          <a:noFill/>
        </p:spPr>
        <p:txBody>
          <a:bodyPr wrap="square">
            <a:spAutoFit/>
          </a:bodyPr>
          <a:lstStyle/>
          <a:p>
            <a:pPr/>
            <a:r>
              <a:rPr sz="1400" b="0" i="0">
                <a:solidFill>
                  <a:srgbClr val="000000"/>
                </a:solidFill>
                <a:latin typeface="Calibri"/>
              </a:rPr>
              <a:t>[1] V. Iosifidis, A. Oelschlager and E. Ntoutsi, “Sentiment classification over opinionated data streams through informed model adaptation,” in Proc. TPDL, Springer LNCS, 2017.</a:t>
            </a:r>
          </a:p>
          <a:p>
            <a:pPr>
              <a:spcBef>
                <a:spcPts val="600"/>
              </a:spcBef>
            </a:pPr>
            <a:r>
              <a:rPr sz="1400" b="0" i="0">
                <a:solidFill>
                  <a:srgbClr val="000000"/>
                </a:solidFill>
                <a:latin typeface="Calibri"/>
              </a:rPr>
              <a:t>[2] J. Costa, C. Silva, M. Antunes and B. Ribeiro, “Concept drift awareness in Twitter streams,” in Proc. 13th ICMLA, IEEE, 2014.</a:t>
            </a:r>
          </a:p>
          <a:p>
            <a:pPr>
              <a:spcBef>
                <a:spcPts val="600"/>
              </a:spcBef>
            </a:pPr>
            <a:r>
              <a:rPr sz="1400" b="0" i="0">
                <a:solidFill>
                  <a:srgbClr val="000000"/>
                </a:solidFill>
                <a:latin typeface="Calibri"/>
              </a:rPr>
              <a:t>[3] A. Bechini, A. Bondielli, P. Ducange, F. Marcelloni and A. Renda, “Addressing event-driven concept drift in Twitter stream: a stance detection application,” IEEE Access, vol. 9, 2021.</a:t>
            </a:r>
          </a:p>
          <a:p>
            <a:pPr>
              <a:spcBef>
                <a:spcPts val="600"/>
              </a:spcBef>
            </a:pPr>
            <a:r>
              <a:rPr sz="1400" b="0" i="0">
                <a:solidFill>
                  <a:srgbClr val="000000"/>
                </a:solidFill>
                <a:latin typeface="Calibri"/>
              </a:rPr>
              <a:t>[4] A. Bifet and R. Gavaldà, “Learning from time-changing data with adaptive windowing,” in Proc. SIAM SDM, 2007.</a:t>
            </a:r>
          </a:p>
          <a:p>
            <a:pPr>
              <a:spcBef>
                <a:spcPts val="600"/>
              </a:spcBef>
            </a:pPr>
            <a:r>
              <a:rPr sz="1400" b="0" i="0">
                <a:solidFill>
                  <a:srgbClr val="000000"/>
                </a:solidFill>
                <a:latin typeface="Calibri"/>
              </a:rPr>
              <a:t>[5] S. Wagner, M. Zimmermann, E. Ntoutsi and M. Spiliopoulou, “Ageing-based multinomial naive Bayes classifiers over opinionated data streams,” in Proc. ECML PKDD, 2015.</a:t>
            </a:r>
          </a:p>
          <a:p>
            <a:pPr>
              <a:spcBef>
                <a:spcPts val="600"/>
              </a:spcBef>
            </a:pPr>
            <a:r>
              <a:rPr sz="1400" b="0" i="0">
                <a:solidFill>
                  <a:srgbClr val="000000"/>
                </a:solidFill>
                <a:latin typeface="Calibri"/>
              </a:rPr>
              <a:t>[6] A. Go, R. Bhayani and L. Huang, “Twitter sentiment classification using distant supervision,” Stanford CS224N report, 2009.</a:t>
            </a:r>
          </a:p>
          <a:p>
            <a:pPr>
              <a:spcBef>
                <a:spcPts val="600"/>
              </a:spcBef>
            </a:pPr>
            <a:r>
              <a:rPr sz="1400" b="0" i="0">
                <a:solidFill>
                  <a:srgbClr val="000000"/>
                </a:solidFill>
                <a:latin typeface="Calibri"/>
              </a:rPr>
              <a:t>[7] J. Montiel et al., “River: machine learning for streaming data in Python,” JMLR, vol. 22, 2021.</a:t>
            </a:r>
          </a:p>
          <a:p>
            <a:pPr>
              <a:spcBef>
                <a:spcPts val="600"/>
              </a:spcBef>
            </a:pPr>
            <a:r>
              <a:rPr sz="1400" b="0" i="0">
                <a:solidFill>
                  <a:srgbClr val="000000"/>
                </a:solidFill>
                <a:latin typeface="Calibri"/>
              </a:rPr>
              <a:t>[8] M. Armbrust et al., “Structured Streaming: a declarative API for real-time applications in Apache Spark,” in Proc. ACM SIGMOD, 2018.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Indian Institute of Information Technology Kottayam</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1600"/>
              <a:t>2</a:t>
            </a:fld>
            <a:endParaRPr sz="1600"/>
          </a:p>
        </p:txBody>
      </p:sp>
      <p:pic>
        <p:nvPicPr>
          <p:cNvPr id="117" name="Picture 116" descr="image.jpg"/>
          <p:cNvPicPr>
            <a:picLocks noChangeAspect="1"/>
          </p:cNvPicPr>
          <p:nvPr/>
        </p:nvPicPr>
        <p:blipFill>
          <a:blip r:embed="rId2"/>
          <a:stretch>
            <a:fillRect/>
          </a:stretch>
        </p:blipFill>
        <p:spPr>
          <a:xfrm>
            <a:off x="9602421" y="0"/>
            <a:ext cx="1751379" cy="815788"/>
          </a:xfrm>
          <a:prstGeom prst="rect">
            <a:avLst/>
          </a:prstGeom>
        </p:spPr>
      </p:pic>
      <p:sp>
        <p:nvSpPr>
          <p:cNvPr id="118" name="TextBox 117"/>
          <p:cNvSpPr txBox="1"/>
          <p:nvPr/>
        </p:nvSpPr>
        <p:spPr>
          <a:xfrm>
            <a:off x="685800" y="2377440"/>
            <a:ext cx="10817352" cy="914400"/>
          </a:xfrm>
          <a:prstGeom prst="rect">
            <a:avLst/>
          </a:prstGeom>
          <a:noFill/>
        </p:spPr>
        <p:txBody>
          <a:bodyPr wrap="square">
            <a:spAutoFit/>
          </a:bodyPr>
          <a:lstStyle/>
          <a:p>
            <a:pPr algn="ctr"/>
            <a:r>
              <a:rPr sz="4400" b="0" i="0">
                <a:solidFill>
                  <a:srgbClr val="000000"/>
                </a:solidFill>
                <a:latin typeface="Calibri"/>
              </a:rPr>
              <a:t>Thank You</a:t>
            </a:r>
          </a:p>
        </p:txBody>
      </p:sp>
      <p:sp>
        <p:nvSpPr>
          <p:cNvPr id="119" name="TextBox 118"/>
          <p:cNvSpPr txBox="1"/>
          <p:nvPr/>
        </p:nvSpPr>
        <p:spPr>
          <a:xfrm>
            <a:off x="685800" y="3566160"/>
            <a:ext cx="10817352" cy="457200"/>
          </a:xfrm>
          <a:prstGeom prst="rect">
            <a:avLst/>
          </a:prstGeom>
          <a:noFill/>
        </p:spPr>
        <p:txBody>
          <a:bodyPr wrap="square">
            <a:spAutoFit/>
          </a:bodyPr>
          <a:lstStyle/>
          <a:p>
            <a:pPr algn="ctr"/>
            <a:r>
              <a:rPr sz="1800" b="0" i="0">
                <a:solidFill>
                  <a:srgbClr val="595959"/>
                </a:solidFill>
                <a:latin typeface="Calibri"/>
              </a:rPr>
              <a:t>Questions are welcome</a:t>
            </a:r>
          </a:p>
        </p:txBody>
      </p:sp>
      <p:sp>
        <p:nvSpPr>
          <p:cNvPr id="120" name="TextBox 119"/>
          <p:cNvSpPr txBox="1"/>
          <p:nvPr/>
        </p:nvSpPr>
        <p:spPr>
          <a:xfrm>
            <a:off x="685800" y="4114800"/>
            <a:ext cx="10817352" cy="457200"/>
          </a:xfrm>
          <a:prstGeom prst="rect">
            <a:avLst/>
          </a:prstGeom>
          <a:noFill/>
        </p:spPr>
        <p:txBody>
          <a:bodyPr wrap="square">
            <a:spAutoFit/>
          </a:bodyPr>
          <a:lstStyle/>
          <a:p>
            <a:pPr algn="ctr"/>
            <a:r>
              <a:rPr sz="1600" b="0" i="0">
                <a:solidFill>
                  <a:srgbClr val="595959"/>
                </a:solidFill>
                <a:latin typeface="Calibri"/>
              </a:rPr>
              <a:t>github.com/CASPER0022/Drift-Aware-Sentiment-Stream</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1548</Words>
  <Application>Microsoft Office PowerPoint</Application>
  <PresentationFormat>Widescreen</PresentationFormat>
  <Paragraphs>227</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NOVA: Navigation &amp; Obstacle Vision Assistant</vt:lpstr>
      <vt:lpstr>Introduction</vt:lpstr>
      <vt:lpstr>Problem Statement</vt:lpstr>
      <vt:lpstr>Objectives</vt:lpstr>
      <vt:lpstr>Literature Review</vt:lpstr>
      <vt:lpstr>System Architecture</vt:lpstr>
      <vt:lpstr>Object Detection: YOLOv8n</vt:lpstr>
      <vt:lpstr>Distance and Direction Estimation</vt:lpstr>
      <vt:lpstr>Tracking and Motion</vt:lpstr>
      <vt:lpstr>Deciding What to Say</vt:lpstr>
      <vt:lpstr>Audio Output and Safety Checks</vt:lpstr>
      <vt:lpstr>Results</vt:lpstr>
      <vt:lpstr>Performance</vt:lpstr>
      <vt:lpstr>Error Analysis</vt:lpstr>
      <vt:lpstr>Limitations and Future Work</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ALBIN JOHN</cp:lastModifiedBy>
  <cp:revision>2</cp:revision>
  <dcterms:modified xsi:type="dcterms:W3CDTF">2026-10-15T10:07:41Z</dcterms:modified>
</cp:coreProperties>
</file>